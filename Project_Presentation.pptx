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7" r:id="rId2"/>
    <p:sldId id="258" r:id="rId3"/>
    <p:sldId id="259" r:id="rId4"/>
    <p:sldId id="256" r:id="rId5"/>
    <p:sldId id="260" r:id="rId6"/>
    <p:sldId id="261" r:id="rId7"/>
    <p:sldId id="262" r:id="rId8"/>
    <p:sldId id="263" r:id="rId9"/>
    <p:sldId id="264" r:id="rId10"/>
    <p:sldId id="265" r:id="rId11"/>
    <p:sldId id="266" r:id="rId12"/>
    <p:sldId id="267" r:id="rId13"/>
    <p:sldId id="268" r:id="rId14"/>
    <p:sldId id="269" r:id="rId15"/>
    <p:sldId id="271" r:id="rId16"/>
    <p:sldId id="273" r:id="rId17"/>
    <p:sldId id="272" r:id="rId18"/>
    <p:sldId id="274" r:id="rId19"/>
    <p:sldId id="275" r:id="rId20"/>
    <p:sldId id="276" r:id="rId21"/>
    <p:sldId id="277" r:id="rId22"/>
    <p:sldId id="278" r:id="rId23"/>
    <p:sldId id="27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94B4B4-F58A-4D18-AE16-5EE83B7806B9}" type="datetimeFigureOut">
              <a:rPr lang="en-IN" smtClean="0"/>
              <a:t>07-08-2025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1529F4-93B3-4E6F-B33E-41E6F35923D7}" type="slidenum">
              <a:rPr lang="en-IN" smtClean="0"/>
              <a:t>‹#›</a:t>
            </a:fld>
            <a:endParaRPr lang="en-IN"/>
          </a:p>
        </p:txBody>
      </p:sp>
    </p:spTree>
    <p:extLst>
      <p:ext uri="{BB962C8B-B14F-4D97-AF65-F5344CB8AC3E}">
        <p14:creationId xmlns:p14="http://schemas.microsoft.com/office/powerpoint/2010/main" val="16473239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11529F4-93B3-4E6F-B33E-41E6F35923D7}" type="slidenum">
              <a:rPr lang="en-IN" smtClean="0"/>
              <a:t>3</a:t>
            </a:fld>
            <a:endParaRPr lang="en-IN"/>
          </a:p>
        </p:txBody>
      </p:sp>
    </p:spTree>
    <p:extLst>
      <p:ext uri="{BB962C8B-B14F-4D97-AF65-F5344CB8AC3E}">
        <p14:creationId xmlns:p14="http://schemas.microsoft.com/office/powerpoint/2010/main" val="19305307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11F82-57B3-43F3-CC8D-C0CB7F5706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6F7036-7A8F-D55F-5184-75AEC418E9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631B89-8523-A0F7-26BC-3BDF49B6A65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857387A-A63C-6CC3-44DF-1C59260C3AC3}"/>
              </a:ext>
            </a:extLst>
          </p:cNvPr>
          <p:cNvSpPr>
            <a:spLocks noGrp="1"/>
          </p:cNvSpPr>
          <p:nvPr>
            <p:ph type="sldNum" sz="quarter" idx="5"/>
          </p:nvPr>
        </p:nvSpPr>
        <p:spPr/>
        <p:txBody>
          <a:bodyPr/>
          <a:lstStyle/>
          <a:p>
            <a:fld id="{011529F4-93B3-4E6F-B33E-41E6F35923D7}" type="slidenum">
              <a:rPr lang="en-IN" smtClean="0"/>
              <a:t>5</a:t>
            </a:fld>
            <a:endParaRPr lang="en-IN"/>
          </a:p>
        </p:txBody>
      </p:sp>
    </p:spTree>
    <p:extLst>
      <p:ext uri="{BB962C8B-B14F-4D97-AF65-F5344CB8AC3E}">
        <p14:creationId xmlns:p14="http://schemas.microsoft.com/office/powerpoint/2010/main" val="32313847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0E4F8-1062-4634-46F4-819AF55D4D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18E080-4C66-BF5D-AD05-5F2379A66C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FD9A2D-5F50-7DBE-A69C-48A3D7E4962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3FC20ED-6629-8D7C-EB45-37CA1577145C}"/>
              </a:ext>
            </a:extLst>
          </p:cNvPr>
          <p:cNvSpPr>
            <a:spLocks noGrp="1"/>
          </p:cNvSpPr>
          <p:nvPr>
            <p:ph type="sldNum" sz="quarter" idx="5"/>
          </p:nvPr>
        </p:nvSpPr>
        <p:spPr/>
        <p:txBody>
          <a:bodyPr/>
          <a:lstStyle/>
          <a:p>
            <a:fld id="{011529F4-93B3-4E6F-B33E-41E6F35923D7}" type="slidenum">
              <a:rPr lang="en-IN" smtClean="0"/>
              <a:t>6</a:t>
            </a:fld>
            <a:endParaRPr lang="en-IN"/>
          </a:p>
        </p:txBody>
      </p:sp>
    </p:spTree>
    <p:extLst>
      <p:ext uri="{BB962C8B-B14F-4D97-AF65-F5344CB8AC3E}">
        <p14:creationId xmlns:p14="http://schemas.microsoft.com/office/powerpoint/2010/main" val="38961459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9D569-1C40-9109-06C6-D2CB1E2069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213BFD-347C-2A00-3ABB-CD9973F6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D0189D-34E3-867C-572D-2F6D6110323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E5CF3A1-AA6B-AE9C-A402-C45AAA3CD547}"/>
              </a:ext>
            </a:extLst>
          </p:cNvPr>
          <p:cNvSpPr>
            <a:spLocks noGrp="1"/>
          </p:cNvSpPr>
          <p:nvPr>
            <p:ph type="sldNum" sz="quarter" idx="5"/>
          </p:nvPr>
        </p:nvSpPr>
        <p:spPr/>
        <p:txBody>
          <a:bodyPr/>
          <a:lstStyle/>
          <a:p>
            <a:fld id="{011529F4-93B3-4E6F-B33E-41E6F35923D7}" type="slidenum">
              <a:rPr lang="en-IN" smtClean="0"/>
              <a:t>7</a:t>
            </a:fld>
            <a:endParaRPr lang="en-IN"/>
          </a:p>
        </p:txBody>
      </p:sp>
    </p:spTree>
    <p:extLst>
      <p:ext uri="{BB962C8B-B14F-4D97-AF65-F5344CB8AC3E}">
        <p14:creationId xmlns:p14="http://schemas.microsoft.com/office/powerpoint/2010/main" val="37243529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1EA79-B3FB-B1DD-3F3F-F40CE372D8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FDEF3C-B5A0-2B8E-A3D6-9AEFA83BB3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012AC8-3C34-814D-9E41-927B763AA46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5766F3B-CED6-8DDE-0439-E599D463150E}"/>
              </a:ext>
            </a:extLst>
          </p:cNvPr>
          <p:cNvSpPr>
            <a:spLocks noGrp="1"/>
          </p:cNvSpPr>
          <p:nvPr>
            <p:ph type="sldNum" sz="quarter" idx="5"/>
          </p:nvPr>
        </p:nvSpPr>
        <p:spPr/>
        <p:txBody>
          <a:bodyPr/>
          <a:lstStyle/>
          <a:p>
            <a:fld id="{011529F4-93B3-4E6F-B33E-41E6F35923D7}" type="slidenum">
              <a:rPr lang="en-IN" smtClean="0"/>
              <a:t>8</a:t>
            </a:fld>
            <a:endParaRPr lang="en-IN"/>
          </a:p>
        </p:txBody>
      </p:sp>
    </p:spTree>
    <p:extLst>
      <p:ext uri="{BB962C8B-B14F-4D97-AF65-F5344CB8AC3E}">
        <p14:creationId xmlns:p14="http://schemas.microsoft.com/office/powerpoint/2010/main" val="2616707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6E9C8-666E-977D-A016-F93EB63A9E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E5CA51-699C-D99D-5F20-40842E5E24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A73E99-79DC-A88B-8E05-A27E7902BD9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B546091-F50F-38D9-89A1-1207E37397BC}"/>
              </a:ext>
            </a:extLst>
          </p:cNvPr>
          <p:cNvSpPr>
            <a:spLocks noGrp="1"/>
          </p:cNvSpPr>
          <p:nvPr>
            <p:ph type="sldNum" sz="quarter" idx="5"/>
          </p:nvPr>
        </p:nvSpPr>
        <p:spPr/>
        <p:txBody>
          <a:bodyPr/>
          <a:lstStyle/>
          <a:p>
            <a:fld id="{011529F4-93B3-4E6F-B33E-41E6F35923D7}" type="slidenum">
              <a:rPr lang="en-IN" smtClean="0"/>
              <a:t>9</a:t>
            </a:fld>
            <a:endParaRPr lang="en-IN"/>
          </a:p>
        </p:txBody>
      </p:sp>
    </p:spTree>
    <p:extLst>
      <p:ext uri="{BB962C8B-B14F-4D97-AF65-F5344CB8AC3E}">
        <p14:creationId xmlns:p14="http://schemas.microsoft.com/office/powerpoint/2010/main" val="33710378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92C10-DC34-661B-F8D9-BF9F4A8E79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AF217A-A8E4-34B4-5925-09206B511B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A3C5A7-C63E-29F2-ABFD-E2858E5E6BA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D074A9-6AD4-BACB-C35A-5E00C80FE557}"/>
              </a:ext>
            </a:extLst>
          </p:cNvPr>
          <p:cNvSpPr>
            <a:spLocks noGrp="1"/>
          </p:cNvSpPr>
          <p:nvPr>
            <p:ph type="sldNum" sz="quarter" idx="5"/>
          </p:nvPr>
        </p:nvSpPr>
        <p:spPr/>
        <p:txBody>
          <a:bodyPr/>
          <a:lstStyle/>
          <a:p>
            <a:fld id="{011529F4-93B3-4E6F-B33E-41E6F35923D7}" type="slidenum">
              <a:rPr lang="en-IN" smtClean="0"/>
              <a:t>10</a:t>
            </a:fld>
            <a:endParaRPr lang="en-IN"/>
          </a:p>
        </p:txBody>
      </p:sp>
    </p:spTree>
    <p:extLst>
      <p:ext uri="{BB962C8B-B14F-4D97-AF65-F5344CB8AC3E}">
        <p14:creationId xmlns:p14="http://schemas.microsoft.com/office/powerpoint/2010/main" val="25601966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A205D-6F3B-EBAC-343C-0E8D13D745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07400D-1CBC-1E68-3F47-1A5BBDCD99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00B0E1-8DEF-69E8-68D2-09E0D1DF221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C373F73-1428-ED18-F83D-31C6A91E3D9E}"/>
              </a:ext>
            </a:extLst>
          </p:cNvPr>
          <p:cNvSpPr>
            <a:spLocks noGrp="1"/>
          </p:cNvSpPr>
          <p:nvPr>
            <p:ph type="sldNum" sz="quarter" idx="5"/>
          </p:nvPr>
        </p:nvSpPr>
        <p:spPr/>
        <p:txBody>
          <a:bodyPr/>
          <a:lstStyle/>
          <a:p>
            <a:fld id="{011529F4-93B3-4E6F-B33E-41E6F35923D7}" type="slidenum">
              <a:rPr lang="en-IN" smtClean="0"/>
              <a:t>11</a:t>
            </a:fld>
            <a:endParaRPr lang="en-IN"/>
          </a:p>
        </p:txBody>
      </p:sp>
    </p:spTree>
    <p:extLst>
      <p:ext uri="{BB962C8B-B14F-4D97-AF65-F5344CB8AC3E}">
        <p14:creationId xmlns:p14="http://schemas.microsoft.com/office/powerpoint/2010/main" val="18792444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46DB6-B1F1-B4B5-D977-0C5C0E336C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FD9B5E-3702-4BDE-4211-C6D4033C3C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DD95F7-315D-BE5B-EFDC-C52E50A126E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6E077C6-7B55-AC37-ADEC-75BC88F08519}"/>
              </a:ext>
            </a:extLst>
          </p:cNvPr>
          <p:cNvSpPr>
            <a:spLocks noGrp="1"/>
          </p:cNvSpPr>
          <p:nvPr>
            <p:ph type="sldNum" sz="quarter" idx="5"/>
          </p:nvPr>
        </p:nvSpPr>
        <p:spPr/>
        <p:txBody>
          <a:bodyPr/>
          <a:lstStyle/>
          <a:p>
            <a:fld id="{011529F4-93B3-4E6F-B33E-41E6F35923D7}" type="slidenum">
              <a:rPr lang="en-IN" smtClean="0"/>
              <a:t>12</a:t>
            </a:fld>
            <a:endParaRPr lang="en-IN"/>
          </a:p>
        </p:txBody>
      </p:sp>
    </p:spTree>
    <p:extLst>
      <p:ext uri="{BB962C8B-B14F-4D97-AF65-F5344CB8AC3E}">
        <p14:creationId xmlns:p14="http://schemas.microsoft.com/office/powerpoint/2010/main" val="33101903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4F6BA-3872-BDC9-A86B-BF6F8E999A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0E7F6-44AF-E717-A620-7E8E53EC3B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0FD5E0-C1FA-A7C0-E30D-3D17F2C045C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3B4E51B-E9C3-C259-75AE-A6D1F5A1D22B}"/>
              </a:ext>
            </a:extLst>
          </p:cNvPr>
          <p:cNvSpPr>
            <a:spLocks noGrp="1"/>
          </p:cNvSpPr>
          <p:nvPr>
            <p:ph type="sldNum" sz="quarter" idx="5"/>
          </p:nvPr>
        </p:nvSpPr>
        <p:spPr/>
        <p:txBody>
          <a:bodyPr/>
          <a:lstStyle/>
          <a:p>
            <a:fld id="{011529F4-93B3-4E6F-B33E-41E6F35923D7}" type="slidenum">
              <a:rPr lang="en-IN" smtClean="0"/>
              <a:t>13</a:t>
            </a:fld>
            <a:endParaRPr lang="en-IN"/>
          </a:p>
        </p:txBody>
      </p:sp>
    </p:spTree>
    <p:extLst>
      <p:ext uri="{BB962C8B-B14F-4D97-AF65-F5344CB8AC3E}">
        <p14:creationId xmlns:p14="http://schemas.microsoft.com/office/powerpoint/2010/main" val="3663790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34B66-02B7-05EC-7E16-EAC9AA7CF6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516DE3-A349-6A84-987D-C912D8488E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92CC44-E4F1-ADC5-7721-54A5A2DEA99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BFB8E2D-BBB3-BF61-59EC-B6F2962E5936}"/>
              </a:ext>
            </a:extLst>
          </p:cNvPr>
          <p:cNvSpPr>
            <a:spLocks noGrp="1"/>
          </p:cNvSpPr>
          <p:nvPr>
            <p:ph type="sldNum" sz="quarter" idx="5"/>
          </p:nvPr>
        </p:nvSpPr>
        <p:spPr/>
        <p:txBody>
          <a:bodyPr/>
          <a:lstStyle/>
          <a:p>
            <a:fld id="{011529F4-93B3-4E6F-B33E-41E6F35923D7}" type="slidenum">
              <a:rPr lang="en-IN" smtClean="0"/>
              <a:t>14</a:t>
            </a:fld>
            <a:endParaRPr lang="en-IN"/>
          </a:p>
        </p:txBody>
      </p:sp>
    </p:spTree>
    <p:extLst>
      <p:ext uri="{BB962C8B-B14F-4D97-AF65-F5344CB8AC3E}">
        <p14:creationId xmlns:p14="http://schemas.microsoft.com/office/powerpoint/2010/main" val="2954706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E660A-BCAE-5945-8163-2DE92569B7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80CBB1-B3A8-6202-56CC-584A19B8CC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95CC7C-8ABB-6264-E428-3FB1D841158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50639EE-455A-DC32-8C9D-FBBFED0DBB89}"/>
              </a:ext>
            </a:extLst>
          </p:cNvPr>
          <p:cNvSpPr>
            <a:spLocks noGrp="1"/>
          </p:cNvSpPr>
          <p:nvPr>
            <p:ph type="sldNum" sz="quarter" idx="5"/>
          </p:nvPr>
        </p:nvSpPr>
        <p:spPr/>
        <p:txBody>
          <a:bodyPr/>
          <a:lstStyle/>
          <a:p>
            <a:fld id="{011529F4-93B3-4E6F-B33E-41E6F35923D7}" type="slidenum">
              <a:rPr lang="en-IN" smtClean="0"/>
              <a:t>15</a:t>
            </a:fld>
            <a:endParaRPr lang="en-IN"/>
          </a:p>
        </p:txBody>
      </p:sp>
    </p:spTree>
    <p:extLst>
      <p:ext uri="{BB962C8B-B14F-4D97-AF65-F5344CB8AC3E}">
        <p14:creationId xmlns:p14="http://schemas.microsoft.com/office/powerpoint/2010/main" val="968091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3A454-F6BB-AC0E-2D41-64E0AA5E7C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174E98-4D8A-4333-64CB-6E55C02469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13E896-F577-2BCE-1223-4D986CF7E57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E90D6DD-5B1F-734E-C87C-392A1B9333F9}"/>
              </a:ext>
            </a:extLst>
          </p:cNvPr>
          <p:cNvSpPr>
            <a:spLocks noGrp="1"/>
          </p:cNvSpPr>
          <p:nvPr>
            <p:ph type="sldNum" sz="quarter" idx="5"/>
          </p:nvPr>
        </p:nvSpPr>
        <p:spPr/>
        <p:txBody>
          <a:bodyPr/>
          <a:lstStyle/>
          <a:p>
            <a:fld id="{011529F4-93B3-4E6F-B33E-41E6F35923D7}" type="slidenum">
              <a:rPr lang="en-IN" smtClean="0"/>
              <a:t>16</a:t>
            </a:fld>
            <a:endParaRPr lang="en-IN"/>
          </a:p>
        </p:txBody>
      </p:sp>
    </p:spTree>
    <p:extLst>
      <p:ext uri="{BB962C8B-B14F-4D97-AF65-F5344CB8AC3E}">
        <p14:creationId xmlns:p14="http://schemas.microsoft.com/office/powerpoint/2010/main" val="37964180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8CD32-3235-21A1-09EF-8CF0851BB5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ED2343-B190-34DE-25CF-CE29A58502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1A264B-64C4-CFF0-4B8D-08C7063294C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B308C7F-09FB-304D-DC4A-68FD1340BDBF}"/>
              </a:ext>
            </a:extLst>
          </p:cNvPr>
          <p:cNvSpPr>
            <a:spLocks noGrp="1"/>
          </p:cNvSpPr>
          <p:nvPr>
            <p:ph type="sldNum" sz="quarter" idx="5"/>
          </p:nvPr>
        </p:nvSpPr>
        <p:spPr/>
        <p:txBody>
          <a:bodyPr/>
          <a:lstStyle/>
          <a:p>
            <a:fld id="{011529F4-93B3-4E6F-B33E-41E6F35923D7}" type="slidenum">
              <a:rPr lang="en-IN" smtClean="0"/>
              <a:t>17</a:t>
            </a:fld>
            <a:endParaRPr lang="en-IN"/>
          </a:p>
        </p:txBody>
      </p:sp>
    </p:spTree>
    <p:extLst>
      <p:ext uri="{BB962C8B-B14F-4D97-AF65-F5344CB8AC3E}">
        <p14:creationId xmlns:p14="http://schemas.microsoft.com/office/powerpoint/2010/main" val="32724550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D5AF6-961F-DC34-81FF-F06A3F65DA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C25916-195F-2748-7451-0365FC7684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7F0EA2-8224-B237-DA6D-FD82BF65B40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972E078-39C8-3FB6-FFD2-50DA9CC71870}"/>
              </a:ext>
            </a:extLst>
          </p:cNvPr>
          <p:cNvSpPr>
            <a:spLocks noGrp="1"/>
          </p:cNvSpPr>
          <p:nvPr>
            <p:ph type="sldNum" sz="quarter" idx="5"/>
          </p:nvPr>
        </p:nvSpPr>
        <p:spPr/>
        <p:txBody>
          <a:bodyPr/>
          <a:lstStyle/>
          <a:p>
            <a:fld id="{011529F4-93B3-4E6F-B33E-41E6F35923D7}" type="slidenum">
              <a:rPr lang="en-IN" smtClean="0"/>
              <a:t>18</a:t>
            </a:fld>
            <a:endParaRPr lang="en-IN"/>
          </a:p>
        </p:txBody>
      </p:sp>
    </p:spTree>
    <p:extLst>
      <p:ext uri="{BB962C8B-B14F-4D97-AF65-F5344CB8AC3E}">
        <p14:creationId xmlns:p14="http://schemas.microsoft.com/office/powerpoint/2010/main" val="8691640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2B382-1F92-876E-0646-4B91CD1A11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854400-1DD5-EAA4-CE87-C607209EA9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BB3A7B-213F-0312-AECA-9246E6FD35A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F1880E0-E399-1C30-C5B7-12A3929829D9}"/>
              </a:ext>
            </a:extLst>
          </p:cNvPr>
          <p:cNvSpPr>
            <a:spLocks noGrp="1"/>
          </p:cNvSpPr>
          <p:nvPr>
            <p:ph type="sldNum" sz="quarter" idx="5"/>
          </p:nvPr>
        </p:nvSpPr>
        <p:spPr/>
        <p:txBody>
          <a:bodyPr/>
          <a:lstStyle/>
          <a:p>
            <a:fld id="{011529F4-93B3-4E6F-B33E-41E6F35923D7}" type="slidenum">
              <a:rPr lang="en-IN" smtClean="0"/>
              <a:t>19</a:t>
            </a:fld>
            <a:endParaRPr lang="en-IN"/>
          </a:p>
        </p:txBody>
      </p:sp>
    </p:spTree>
    <p:extLst>
      <p:ext uri="{BB962C8B-B14F-4D97-AF65-F5344CB8AC3E}">
        <p14:creationId xmlns:p14="http://schemas.microsoft.com/office/powerpoint/2010/main" val="8338058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BFC3C-2F4E-B1E3-34CF-C0FDA9E43B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F18C2F-25F5-F9B1-7AD1-AB63AB4D82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B75A5A-6B9E-A667-7487-2AB0B6CBD8A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A139770-ABDD-8403-0544-2CE2C32132EE}"/>
              </a:ext>
            </a:extLst>
          </p:cNvPr>
          <p:cNvSpPr>
            <a:spLocks noGrp="1"/>
          </p:cNvSpPr>
          <p:nvPr>
            <p:ph type="sldNum" sz="quarter" idx="5"/>
          </p:nvPr>
        </p:nvSpPr>
        <p:spPr/>
        <p:txBody>
          <a:bodyPr/>
          <a:lstStyle/>
          <a:p>
            <a:fld id="{011529F4-93B3-4E6F-B33E-41E6F35923D7}" type="slidenum">
              <a:rPr lang="en-IN" smtClean="0"/>
              <a:t>20</a:t>
            </a:fld>
            <a:endParaRPr lang="en-IN"/>
          </a:p>
        </p:txBody>
      </p:sp>
    </p:spTree>
    <p:extLst>
      <p:ext uri="{BB962C8B-B14F-4D97-AF65-F5344CB8AC3E}">
        <p14:creationId xmlns:p14="http://schemas.microsoft.com/office/powerpoint/2010/main" val="38028668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82429-7CCB-382D-9577-9FABA79DB8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3E2245-25D4-DD17-5ACC-43ADA370EA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F8F9F5-A4EF-F328-C8FD-0C6282AE476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7CB68A9-9452-B11E-441A-9F29CD16B1C2}"/>
              </a:ext>
            </a:extLst>
          </p:cNvPr>
          <p:cNvSpPr>
            <a:spLocks noGrp="1"/>
          </p:cNvSpPr>
          <p:nvPr>
            <p:ph type="sldNum" sz="quarter" idx="5"/>
          </p:nvPr>
        </p:nvSpPr>
        <p:spPr/>
        <p:txBody>
          <a:bodyPr/>
          <a:lstStyle/>
          <a:p>
            <a:fld id="{011529F4-93B3-4E6F-B33E-41E6F35923D7}" type="slidenum">
              <a:rPr lang="en-IN" smtClean="0"/>
              <a:t>21</a:t>
            </a:fld>
            <a:endParaRPr lang="en-IN"/>
          </a:p>
        </p:txBody>
      </p:sp>
    </p:spTree>
    <p:extLst>
      <p:ext uri="{BB962C8B-B14F-4D97-AF65-F5344CB8AC3E}">
        <p14:creationId xmlns:p14="http://schemas.microsoft.com/office/powerpoint/2010/main" val="24932905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14628-3FDF-511A-A30E-2B30A32922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79360D-3194-0BAB-D2A1-1BC458230E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40A386-3FA7-5E33-3DB5-33107FC5D3F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4A7D32B-9408-CEAE-5690-CAC72CC83664}"/>
              </a:ext>
            </a:extLst>
          </p:cNvPr>
          <p:cNvSpPr>
            <a:spLocks noGrp="1"/>
          </p:cNvSpPr>
          <p:nvPr>
            <p:ph type="sldNum" sz="quarter" idx="5"/>
          </p:nvPr>
        </p:nvSpPr>
        <p:spPr/>
        <p:txBody>
          <a:bodyPr/>
          <a:lstStyle/>
          <a:p>
            <a:fld id="{011529F4-93B3-4E6F-B33E-41E6F35923D7}" type="slidenum">
              <a:rPr lang="en-IN" smtClean="0"/>
              <a:t>22</a:t>
            </a:fld>
            <a:endParaRPr lang="en-IN"/>
          </a:p>
        </p:txBody>
      </p:sp>
    </p:spTree>
    <p:extLst>
      <p:ext uri="{BB962C8B-B14F-4D97-AF65-F5344CB8AC3E}">
        <p14:creationId xmlns:p14="http://schemas.microsoft.com/office/powerpoint/2010/main" val="17573334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73EF8-2CEC-4FF1-4B1F-AC674711A2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3EA56F-508C-4ECB-7328-9B28416517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43C1F5-B35F-2C08-302E-0526006EA82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87815C9-00DB-7912-2C12-FA85B2A1D9E5}"/>
              </a:ext>
            </a:extLst>
          </p:cNvPr>
          <p:cNvSpPr>
            <a:spLocks noGrp="1"/>
          </p:cNvSpPr>
          <p:nvPr>
            <p:ph type="sldNum" sz="quarter" idx="5"/>
          </p:nvPr>
        </p:nvSpPr>
        <p:spPr/>
        <p:txBody>
          <a:bodyPr/>
          <a:lstStyle/>
          <a:p>
            <a:fld id="{011529F4-93B3-4E6F-B33E-41E6F35923D7}" type="slidenum">
              <a:rPr lang="en-IN" smtClean="0"/>
              <a:t>23</a:t>
            </a:fld>
            <a:endParaRPr lang="en-IN"/>
          </a:p>
        </p:txBody>
      </p:sp>
    </p:spTree>
    <p:extLst>
      <p:ext uri="{BB962C8B-B14F-4D97-AF65-F5344CB8AC3E}">
        <p14:creationId xmlns:p14="http://schemas.microsoft.com/office/powerpoint/2010/main" val="22363738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873ED-A9B0-9D55-B371-4CB8D093D7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5A3A1FD-1689-B1EF-55FC-FA7F8AF9D6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EE848DD-0156-E637-9BBB-ABA029D064AA}"/>
              </a:ext>
            </a:extLst>
          </p:cNvPr>
          <p:cNvSpPr>
            <a:spLocks noGrp="1"/>
          </p:cNvSpPr>
          <p:nvPr>
            <p:ph type="dt" sz="half" idx="10"/>
          </p:nvPr>
        </p:nvSpPr>
        <p:spPr/>
        <p:txBody>
          <a:bodyPr/>
          <a:lstStyle/>
          <a:p>
            <a:fld id="{8FAA51A4-3BCE-480C-9434-FA00CEC7035E}" type="datetimeFigureOut">
              <a:rPr lang="en-IN" smtClean="0"/>
              <a:t>07-08-2025</a:t>
            </a:fld>
            <a:endParaRPr lang="en-IN"/>
          </a:p>
        </p:txBody>
      </p:sp>
      <p:sp>
        <p:nvSpPr>
          <p:cNvPr id="5" name="Footer Placeholder 4">
            <a:extLst>
              <a:ext uri="{FF2B5EF4-FFF2-40B4-BE49-F238E27FC236}">
                <a16:creationId xmlns:a16="http://schemas.microsoft.com/office/drawing/2014/main" id="{DB683F81-47B5-E80F-4F6C-2DF1D7153D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576C968-AABA-9881-7468-9083E6BBC43D}"/>
              </a:ext>
            </a:extLst>
          </p:cNvPr>
          <p:cNvSpPr>
            <a:spLocks noGrp="1"/>
          </p:cNvSpPr>
          <p:nvPr>
            <p:ph type="sldNum" sz="quarter" idx="12"/>
          </p:nvPr>
        </p:nvSpPr>
        <p:spPr/>
        <p:txBody>
          <a:bodyPr/>
          <a:lstStyle/>
          <a:p>
            <a:fld id="{BCCE6685-CAE6-4813-A5BA-64D943D2AA1A}" type="slidenum">
              <a:rPr lang="en-IN" smtClean="0"/>
              <a:t>‹#›</a:t>
            </a:fld>
            <a:endParaRPr lang="en-IN"/>
          </a:p>
        </p:txBody>
      </p:sp>
    </p:spTree>
    <p:extLst>
      <p:ext uri="{BB962C8B-B14F-4D97-AF65-F5344CB8AC3E}">
        <p14:creationId xmlns:p14="http://schemas.microsoft.com/office/powerpoint/2010/main" val="2673105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AFC45-44B8-E9AF-6A45-0E95A4B786B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787BB7E-FBF1-9BAE-A55B-B8AC1384682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E396FCB-4215-4B74-262E-2B3B3B3DAD1D}"/>
              </a:ext>
            </a:extLst>
          </p:cNvPr>
          <p:cNvSpPr>
            <a:spLocks noGrp="1"/>
          </p:cNvSpPr>
          <p:nvPr>
            <p:ph type="dt" sz="half" idx="10"/>
          </p:nvPr>
        </p:nvSpPr>
        <p:spPr/>
        <p:txBody>
          <a:bodyPr/>
          <a:lstStyle/>
          <a:p>
            <a:fld id="{8FAA51A4-3BCE-480C-9434-FA00CEC7035E}" type="datetimeFigureOut">
              <a:rPr lang="en-IN" smtClean="0"/>
              <a:t>07-08-2025</a:t>
            </a:fld>
            <a:endParaRPr lang="en-IN"/>
          </a:p>
        </p:txBody>
      </p:sp>
      <p:sp>
        <p:nvSpPr>
          <p:cNvPr id="5" name="Footer Placeholder 4">
            <a:extLst>
              <a:ext uri="{FF2B5EF4-FFF2-40B4-BE49-F238E27FC236}">
                <a16:creationId xmlns:a16="http://schemas.microsoft.com/office/drawing/2014/main" id="{062607BD-4358-DCA6-F80F-70A93284AE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95FCB5-F3E4-C775-0BCB-D88745BCDBFA}"/>
              </a:ext>
            </a:extLst>
          </p:cNvPr>
          <p:cNvSpPr>
            <a:spLocks noGrp="1"/>
          </p:cNvSpPr>
          <p:nvPr>
            <p:ph type="sldNum" sz="quarter" idx="12"/>
          </p:nvPr>
        </p:nvSpPr>
        <p:spPr/>
        <p:txBody>
          <a:bodyPr/>
          <a:lstStyle/>
          <a:p>
            <a:fld id="{BCCE6685-CAE6-4813-A5BA-64D943D2AA1A}" type="slidenum">
              <a:rPr lang="en-IN" smtClean="0"/>
              <a:t>‹#›</a:t>
            </a:fld>
            <a:endParaRPr lang="en-IN"/>
          </a:p>
        </p:txBody>
      </p:sp>
    </p:spTree>
    <p:extLst>
      <p:ext uri="{BB962C8B-B14F-4D97-AF65-F5344CB8AC3E}">
        <p14:creationId xmlns:p14="http://schemas.microsoft.com/office/powerpoint/2010/main" val="3625136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CBB50-599D-7756-DA23-15FD224A6E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D02708F-6A49-7D74-A803-1F09658B3BC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00127D2-D999-BBBD-3686-DD62C4D3CA9C}"/>
              </a:ext>
            </a:extLst>
          </p:cNvPr>
          <p:cNvSpPr>
            <a:spLocks noGrp="1"/>
          </p:cNvSpPr>
          <p:nvPr>
            <p:ph type="dt" sz="half" idx="10"/>
          </p:nvPr>
        </p:nvSpPr>
        <p:spPr/>
        <p:txBody>
          <a:bodyPr/>
          <a:lstStyle/>
          <a:p>
            <a:fld id="{8FAA51A4-3BCE-480C-9434-FA00CEC7035E}" type="datetimeFigureOut">
              <a:rPr lang="en-IN" smtClean="0"/>
              <a:t>07-08-2025</a:t>
            </a:fld>
            <a:endParaRPr lang="en-IN"/>
          </a:p>
        </p:txBody>
      </p:sp>
      <p:sp>
        <p:nvSpPr>
          <p:cNvPr id="5" name="Footer Placeholder 4">
            <a:extLst>
              <a:ext uri="{FF2B5EF4-FFF2-40B4-BE49-F238E27FC236}">
                <a16:creationId xmlns:a16="http://schemas.microsoft.com/office/drawing/2014/main" id="{DE97A4D5-B464-58A1-4FD2-A9B0C4ED59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4B4CEC-0DB7-FBDD-1031-7B43E7CC8086}"/>
              </a:ext>
            </a:extLst>
          </p:cNvPr>
          <p:cNvSpPr>
            <a:spLocks noGrp="1"/>
          </p:cNvSpPr>
          <p:nvPr>
            <p:ph type="sldNum" sz="quarter" idx="12"/>
          </p:nvPr>
        </p:nvSpPr>
        <p:spPr/>
        <p:txBody>
          <a:bodyPr/>
          <a:lstStyle/>
          <a:p>
            <a:fld id="{BCCE6685-CAE6-4813-A5BA-64D943D2AA1A}" type="slidenum">
              <a:rPr lang="en-IN" smtClean="0"/>
              <a:t>‹#›</a:t>
            </a:fld>
            <a:endParaRPr lang="en-IN"/>
          </a:p>
        </p:txBody>
      </p:sp>
    </p:spTree>
    <p:extLst>
      <p:ext uri="{BB962C8B-B14F-4D97-AF65-F5344CB8AC3E}">
        <p14:creationId xmlns:p14="http://schemas.microsoft.com/office/powerpoint/2010/main" val="22122542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085BE-64F4-DC90-44A3-6232A0AC218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14DC701-A49C-042B-A6FE-F92567B41B3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7C78004-5392-6593-C362-83B0BDE1BE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DBA540C-8407-32D1-C258-500A5ADD69FE}"/>
              </a:ext>
            </a:extLst>
          </p:cNvPr>
          <p:cNvSpPr>
            <a:spLocks noGrp="1"/>
          </p:cNvSpPr>
          <p:nvPr>
            <p:ph type="dt" sz="half" idx="10"/>
          </p:nvPr>
        </p:nvSpPr>
        <p:spPr/>
        <p:txBody>
          <a:bodyPr/>
          <a:lstStyle/>
          <a:p>
            <a:fld id="{8FAA51A4-3BCE-480C-9434-FA00CEC7035E}" type="datetimeFigureOut">
              <a:rPr lang="en-IN" smtClean="0"/>
              <a:t>07-08-2025</a:t>
            </a:fld>
            <a:endParaRPr lang="en-IN"/>
          </a:p>
        </p:txBody>
      </p:sp>
      <p:sp>
        <p:nvSpPr>
          <p:cNvPr id="6" name="Footer Placeholder 5">
            <a:extLst>
              <a:ext uri="{FF2B5EF4-FFF2-40B4-BE49-F238E27FC236}">
                <a16:creationId xmlns:a16="http://schemas.microsoft.com/office/drawing/2014/main" id="{5C373B48-FA3D-E832-1B3A-A6556AB6C06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34C96EC-6649-FEF6-B5C1-BDF1848F897C}"/>
              </a:ext>
            </a:extLst>
          </p:cNvPr>
          <p:cNvSpPr>
            <a:spLocks noGrp="1"/>
          </p:cNvSpPr>
          <p:nvPr>
            <p:ph type="sldNum" sz="quarter" idx="12"/>
          </p:nvPr>
        </p:nvSpPr>
        <p:spPr/>
        <p:txBody>
          <a:bodyPr/>
          <a:lstStyle/>
          <a:p>
            <a:fld id="{BCCE6685-CAE6-4813-A5BA-64D943D2AA1A}" type="slidenum">
              <a:rPr lang="en-IN" smtClean="0"/>
              <a:t>‹#›</a:t>
            </a:fld>
            <a:endParaRPr lang="en-IN"/>
          </a:p>
        </p:txBody>
      </p:sp>
    </p:spTree>
    <p:extLst>
      <p:ext uri="{BB962C8B-B14F-4D97-AF65-F5344CB8AC3E}">
        <p14:creationId xmlns:p14="http://schemas.microsoft.com/office/powerpoint/2010/main" val="175948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D6411-236C-D5BE-6BE1-B9D30A6A2F2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E21158C-8913-91D6-A23A-7EF25148E3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7B930D3-0507-C50A-D7AE-0D94EE74308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C4E7F83-F471-CA58-BF07-5E5C1D63F2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9B00BA-DB9D-DFC9-E281-05447C48C1B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B6ED85F-62D3-682A-5064-6A7F7A62A1C7}"/>
              </a:ext>
            </a:extLst>
          </p:cNvPr>
          <p:cNvSpPr>
            <a:spLocks noGrp="1"/>
          </p:cNvSpPr>
          <p:nvPr>
            <p:ph type="dt" sz="half" idx="10"/>
          </p:nvPr>
        </p:nvSpPr>
        <p:spPr/>
        <p:txBody>
          <a:bodyPr/>
          <a:lstStyle/>
          <a:p>
            <a:fld id="{8FAA51A4-3BCE-480C-9434-FA00CEC7035E}" type="datetimeFigureOut">
              <a:rPr lang="en-IN" smtClean="0"/>
              <a:t>07-08-2025</a:t>
            </a:fld>
            <a:endParaRPr lang="en-IN"/>
          </a:p>
        </p:txBody>
      </p:sp>
      <p:sp>
        <p:nvSpPr>
          <p:cNvPr id="8" name="Footer Placeholder 7">
            <a:extLst>
              <a:ext uri="{FF2B5EF4-FFF2-40B4-BE49-F238E27FC236}">
                <a16:creationId xmlns:a16="http://schemas.microsoft.com/office/drawing/2014/main" id="{8757F515-C1CD-E541-EBC5-11A0FD9599C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809349A-82D1-4050-9765-334F3A8E6238}"/>
              </a:ext>
            </a:extLst>
          </p:cNvPr>
          <p:cNvSpPr>
            <a:spLocks noGrp="1"/>
          </p:cNvSpPr>
          <p:nvPr>
            <p:ph type="sldNum" sz="quarter" idx="12"/>
          </p:nvPr>
        </p:nvSpPr>
        <p:spPr/>
        <p:txBody>
          <a:bodyPr/>
          <a:lstStyle/>
          <a:p>
            <a:fld id="{BCCE6685-CAE6-4813-A5BA-64D943D2AA1A}" type="slidenum">
              <a:rPr lang="en-IN" smtClean="0"/>
              <a:t>‹#›</a:t>
            </a:fld>
            <a:endParaRPr lang="en-IN"/>
          </a:p>
        </p:txBody>
      </p:sp>
    </p:spTree>
    <p:extLst>
      <p:ext uri="{BB962C8B-B14F-4D97-AF65-F5344CB8AC3E}">
        <p14:creationId xmlns:p14="http://schemas.microsoft.com/office/powerpoint/2010/main" val="34754989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C07CD-DCBA-0DDF-7045-772268CB8A1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674BCDA-848D-8395-F96A-ED651B4D314F}"/>
              </a:ext>
            </a:extLst>
          </p:cNvPr>
          <p:cNvSpPr>
            <a:spLocks noGrp="1"/>
          </p:cNvSpPr>
          <p:nvPr>
            <p:ph type="dt" sz="half" idx="10"/>
          </p:nvPr>
        </p:nvSpPr>
        <p:spPr/>
        <p:txBody>
          <a:bodyPr/>
          <a:lstStyle/>
          <a:p>
            <a:fld id="{8FAA51A4-3BCE-480C-9434-FA00CEC7035E}" type="datetimeFigureOut">
              <a:rPr lang="en-IN" smtClean="0"/>
              <a:t>07-08-2025</a:t>
            </a:fld>
            <a:endParaRPr lang="en-IN"/>
          </a:p>
        </p:txBody>
      </p:sp>
      <p:sp>
        <p:nvSpPr>
          <p:cNvPr id="4" name="Footer Placeholder 3">
            <a:extLst>
              <a:ext uri="{FF2B5EF4-FFF2-40B4-BE49-F238E27FC236}">
                <a16:creationId xmlns:a16="http://schemas.microsoft.com/office/drawing/2014/main" id="{6BEB65F2-9027-5884-5047-90D81192FB0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3A29AF0-C725-9EB5-808C-8E634D6A48FC}"/>
              </a:ext>
            </a:extLst>
          </p:cNvPr>
          <p:cNvSpPr>
            <a:spLocks noGrp="1"/>
          </p:cNvSpPr>
          <p:nvPr>
            <p:ph type="sldNum" sz="quarter" idx="12"/>
          </p:nvPr>
        </p:nvSpPr>
        <p:spPr/>
        <p:txBody>
          <a:bodyPr/>
          <a:lstStyle/>
          <a:p>
            <a:fld id="{BCCE6685-CAE6-4813-A5BA-64D943D2AA1A}" type="slidenum">
              <a:rPr lang="en-IN" smtClean="0"/>
              <a:t>‹#›</a:t>
            </a:fld>
            <a:endParaRPr lang="en-IN"/>
          </a:p>
        </p:txBody>
      </p:sp>
    </p:spTree>
    <p:extLst>
      <p:ext uri="{BB962C8B-B14F-4D97-AF65-F5344CB8AC3E}">
        <p14:creationId xmlns:p14="http://schemas.microsoft.com/office/powerpoint/2010/main" val="71395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22A65E-863C-6397-A917-355268B52E6C}"/>
              </a:ext>
            </a:extLst>
          </p:cNvPr>
          <p:cNvSpPr>
            <a:spLocks noGrp="1"/>
          </p:cNvSpPr>
          <p:nvPr>
            <p:ph type="dt" sz="half" idx="10"/>
          </p:nvPr>
        </p:nvSpPr>
        <p:spPr/>
        <p:txBody>
          <a:bodyPr/>
          <a:lstStyle/>
          <a:p>
            <a:fld id="{8FAA51A4-3BCE-480C-9434-FA00CEC7035E}" type="datetimeFigureOut">
              <a:rPr lang="en-IN" smtClean="0"/>
              <a:t>07-08-2025</a:t>
            </a:fld>
            <a:endParaRPr lang="en-IN"/>
          </a:p>
        </p:txBody>
      </p:sp>
      <p:sp>
        <p:nvSpPr>
          <p:cNvPr id="3" name="Footer Placeholder 2">
            <a:extLst>
              <a:ext uri="{FF2B5EF4-FFF2-40B4-BE49-F238E27FC236}">
                <a16:creationId xmlns:a16="http://schemas.microsoft.com/office/drawing/2014/main" id="{074383B9-C678-B636-4FDB-2E3727484CB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855BA5A-3470-E5CA-FB7E-06E6EB6EA5EB}"/>
              </a:ext>
            </a:extLst>
          </p:cNvPr>
          <p:cNvSpPr>
            <a:spLocks noGrp="1"/>
          </p:cNvSpPr>
          <p:nvPr>
            <p:ph type="sldNum" sz="quarter" idx="12"/>
          </p:nvPr>
        </p:nvSpPr>
        <p:spPr/>
        <p:txBody>
          <a:bodyPr/>
          <a:lstStyle/>
          <a:p>
            <a:fld id="{BCCE6685-CAE6-4813-A5BA-64D943D2AA1A}" type="slidenum">
              <a:rPr lang="en-IN" smtClean="0"/>
              <a:t>‹#›</a:t>
            </a:fld>
            <a:endParaRPr lang="en-IN"/>
          </a:p>
        </p:txBody>
      </p:sp>
    </p:spTree>
    <p:extLst>
      <p:ext uri="{BB962C8B-B14F-4D97-AF65-F5344CB8AC3E}">
        <p14:creationId xmlns:p14="http://schemas.microsoft.com/office/powerpoint/2010/main" val="18344090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779DC-148F-314F-C6FE-E5F831270C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37EC86B-7405-F7DB-67BA-F649FE223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47D4459-0D0E-A501-FCCE-8A6E245409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66F1A8-FF3C-3991-9AA4-4FB13BC586FB}"/>
              </a:ext>
            </a:extLst>
          </p:cNvPr>
          <p:cNvSpPr>
            <a:spLocks noGrp="1"/>
          </p:cNvSpPr>
          <p:nvPr>
            <p:ph type="dt" sz="half" idx="10"/>
          </p:nvPr>
        </p:nvSpPr>
        <p:spPr/>
        <p:txBody>
          <a:bodyPr/>
          <a:lstStyle/>
          <a:p>
            <a:fld id="{8FAA51A4-3BCE-480C-9434-FA00CEC7035E}" type="datetimeFigureOut">
              <a:rPr lang="en-IN" smtClean="0"/>
              <a:t>07-08-2025</a:t>
            </a:fld>
            <a:endParaRPr lang="en-IN"/>
          </a:p>
        </p:txBody>
      </p:sp>
      <p:sp>
        <p:nvSpPr>
          <p:cNvPr id="6" name="Footer Placeholder 5">
            <a:extLst>
              <a:ext uri="{FF2B5EF4-FFF2-40B4-BE49-F238E27FC236}">
                <a16:creationId xmlns:a16="http://schemas.microsoft.com/office/drawing/2014/main" id="{D69614DE-916C-2581-C7A8-8A6A7303080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EC148E6-7BBA-8047-9060-0DC5825BB5AC}"/>
              </a:ext>
            </a:extLst>
          </p:cNvPr>
          <p:cNvSpPr>
            <a:spLocks noGrp="1"/>
          </p:cNvSpPr>
          <p:nvPr>
            <p:ph type="sldNum" sz="quarter" idx="12"/>
          </p:nvPr>
        </p:nvSpPr>
        <p:spPr/>
        <p:txBody>
          <a:bodyPr/>
          <a:lstStyle/>
          <a:p>
            <a:fld id="{BCCE6685-CAE6-4813-A5BA-64D943D2AA1A}" type="slidenum">
              <a:rPr lang="en-IN" smtClean="0"/>
              <a:t>‹#›</a:t>
            </a:fld>
            <a:endParaRPr lang="en-IN"/>
          </a:p>
        </p:txBody>
      </p:sp>
    </p:spTree>
    <p:extLst>
      <p:ext uri="{BB962C8B-B14F-4D97-AF65-F5344CB8AC3E}">
        <p14:creationId xmlns:p14="http://schemas.microsoft.com/office/powerpoint/2010/main" val="809538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FC755-6839-02F5-3167-E649714A3F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0B517A7-C6CB-3432-4C3E-A850FCB3CA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1CD4196-F7AB-C668-4E54-5CBBD76D38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81577D-2606-A271-3702-0D6E8E31456A}"/>
              </a:ext>
            </a:extLst>
          </p:cNvPr>
          <p:cNvSpPr>
            <a:spLocks noGrp="1"/>
          </p:cNvSpPr>
          <p:nvPr>
            <p:ph type="dt" sz="half" idx="10"/>
          </p:nvPr>
        </p:nvSpPr>
        <p:spPr/>
        <p:txBody>
          <a:bodyPr/>
          <a:lstStyle/>
          <a:p>
            <a:fld id="{8FAA51A4-3BCE-480C-9434-FA00CEC7035E}" type="datetimeFigureOut">
              <a:rPr lang="en-IN" smtClean="0"/>
              <a:t>07-08-2025</a:t>
            </a:fld>
            <a:endParaRPr lang="en-IN"/>
          </a:p>
        </p:txBody>
      </p:sp>
      <p:sp>
        <p:nvSpPr>
          <p:cNvPr id="6" name="Footer Placeholder 5">
            <a:extLst>
              <a:ext uri="{FF2B5EF4-FFF2-40B4-BE49-F238E27FC236}">
                <a16:creationId xmlns:a16="http://schemas.microsoft.com/office/drawing/2014/main" id="{8A58E0B7-6A20-3414-295D-D732D95665C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528D431-0E55-C173-5FEE-EBD60F4B8459}"/>
              </a:ext>
            </a:extLst>
          </p:cNvPr>
          <p:cNvSpPr>
            <a:spLocks noGrp="1"/>
          </p:cNvSpPr>
          <p:nvPr>
            <p:ph type="sldNum" sz="quarter" idx="12"/>
          </p:nvPr>
        </p:nvSpPr>
        <p:spPr/>
        <p:txBody>
          <a:bodyPr/>
          <a:lstStyle/>
          <a:p>
            <a:fld id="{BCCE6685-CAE6-4813-A5BA-64D943D2AA1A}" type="slidenum">
              <a:rPr lang="en-IN" smtClean="0"/>
              <a:t>‹#›</a:t>
            </a:fld>
            <a:endParaRPr lang="en-IN"/>
          </a:p>
        </p:txBody>
      </p:sp>
    </p:spTree>
    <p:extLst>
      <p:ext uri="{BB962C8B-B14F-4D97-AF65-F5344CB8AC3E}">
        <p14:creationId xmlns:p14="http://schemas.microsoft.com/office/powerpoint/2010/main" val="8303710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99F41-638E-9923-565E-5EB629D9986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438F612-37DA-6F34-E945-67CD4D1DB54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3F5E4A1-0053-807B-5CC6-56664F18DE28}"/>
              </a:ext>
            </a:extLst>
          </p:cNvPr>
          <p:cNvSpPr>
            <a:spLocks noGrp="1"/>
          </p:cNvSpPr>
          <p:nvPr>
            <p:ph type="dt" sz="half" idx="10"/>
          </p:nvPr>
        </p:nvSpPr>
        <p:spPr/>
        <p:txBody>
          <a:bodyPr/>
          <a:lstStyle/>
          <a:p>
            <a:fld id="{8FAA51A4-3BCE-480C-9434-FA00CEC7035E}" type="datetimeFigureOut">
              <a:rPr lang="en-IN" smtClean="0"/>
              <a:t>07-08-2025</a:t>
            </a:fld>
            <a:endParaRPr lang="en-IN"/>
          </a:p>
        </p:txBody>
      </p:sp>
      <p:sp>
        <p:nvSpPr>
          <p:cNvPr id="5" name="Footer Placeholder 4">
            <a:extLst>
              <a:ext uri="{FF2B5EF4-FFF2-40B4-BE49-F238E27FC236}">
                <a16:creationId xmlns:a16="http://schemas.microsoft.com/office/drawing/2014/main" id="{6C3F43F0-25BE-C64B-69C3-6F9E5F3635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5A4902-9EB1-F9E0-F699-FB5F106C5C6B}"/>
              </a:ext>
            </a:extLst>
          </p:cNvPr>
          <p:cNvSpPr>
            <a:spLocks noGrp="1"/>
          </p:cNvSpPr>
          <p:nvPr>
            <p:ph type="sldNum" sz="quarter" idx="12"/>
          </p:nvPr>
        </p:nvSpPr>
        <p:spPr/>
        <p:txBody>
          <a:bodyPr/>
          <a:lstStyle/>
          <a:p>
            <a:fld id="{BCCE6685-CAE6-4813-A5BA-64D943D2AA1A}" type="slidenum">
              <a:rPr lang="en-IN" smtClean="0"/>
              <a:t>‹#›</a:t>
            </a:fld>
            <a:endParaRPr lang="en-IN"/>
          </a:p>
        </p:txBody>
      </p:sp>
    </p:spTree>
    <p:extLst>
      <p:ext uri="{BB962C8B-B14F-4D97-AF65-F5344CB8AC3E}">
        <p14:creationId xmlns:p14="http://schemas.microsoft.com/office/powerpoint/2010/main" val="2445159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906F27-5ACA-4117-5D29-FB31CC015B1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D9B8552-EE52-25F7-FFB5-222ACFE7E68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E0C7A67-40DD-8AF4-2D18-CAB6287B9DDB}"/>
              </a:ext>
            </a:extLst>
          </p:cNvPr>
          <p:cNvSpPr>
            <a:spLocks noGrp="1"/>
          </p:cNvSpPr>
          <p:nvPr>
            <p:ph type="dt" sz="half" idx="10"/>
          </p:nvPr>
        </p:nvSpPr>
        <p:spPr/>
        <p:txBody>
          <a:bodyPr/>
          <a:lstStyle/>
          <a:p>
            <a:fld id="{8FAA51A4-3BCE-480C-9434-FA00CEC7035E}" type="datetimeFigureOut">
              <a:rPr lang="en-IN" smtClean="0"/>
              <a:t>07-08-2025</a:t>
            </a:fld>
            <a:endParaRPr lang="en-IN"/>
          </a:p>
        </p:txBody>
      </p:sp>
      <p:sp>
        <p:nvSpPr>
          <p:cNvPr id="5" name="Footer Placeholder 4">
            <a:extLst>
              <a:ext uri="{FF2B5EF4-FFF2-40B4-BE49-F238E27FC236}">
                <a16:creationId xmlns:a16="http://schemas.microsoft.com/office/drawing/2014/main" id="{CB822CD3-ACC4-B3BA-DCBF-32CBFE4F3A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6C39CB-D2B0-F23F-43A9-F32198C69FE9}"/>
              </a:ext>
            </a:extLst>
          </p:cNvPr>
          <p:cNvSpPr>
            <a:spLocks noGrp="1"/>
          </p:cNvSpPr>
          <p:nvPr>
            <p:ph type="sldNum" sz="quarter" idx="12"/>
          </p:nvPr>
        </p:nvSpPr>
        <p:spPr/>
        <p:txBody>
          <a:bodyPr/>
          <a:lstStyle/>
          <a:p>
            <a:fld id="{BCCE6685-CAE6-4813-A5BA-64D943D2AA1A}" type="slidenum">
              <a:rPr lang="en-IN" smtClean="0"/>
              <a:t>‹#›</a:t>
            </a:fld>
            <a:endParaRPr lang="en-IN"/>
          </a:p>
        </p:txBody>
      </p:sp>
    </p:spTree>
    <p:extLst>
      <p:ext uri="{BB962C8B-B14F-4D97-AF65-F5344CB8AC3E}">
        <p14:creationId xmlns:p14="http://schemas.microsoft.com/office/powerpoint/2010/main" val="1942423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B49A49-58DF-A504-3E12-A29D85D952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7FF74E5-2673-6061-63A2-A8CAE534B6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C8C71DA-6DF6-034C-E95F-AA802BAA8D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AA51A4-3BCE-480C-9434-FA00CEC7035E}" type="datetimeFigureOut">
              <a:rPr lang="en-IN" smtClean="0"/>
              <a:t>07-08-2025</a:t>
            </a:fld>
            <a:endParaRPr lang="en-IN"/>
          </a:p>
        </p:txBody>
      </p:sp>
      <p:sp>
        <p:nvSpPr>
          <p:cNvPr id="5" name="Footer Placeholder 4">
            <a:extLst>
              <a:ext uri="{FF2B5EF4-FFF2-40B4-BE49-F238E27FC236}">
                <a16:creationId xmlns:a16="http://schemas.microsoft.com/office/drawing/2014/main" id="{D28B3D95-75F7-B380-9E88-4310FE2C31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7502FEB-FBF9-4DB6-7E10-7A5BD3EFED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CE6685-CAE6-4813-A5BA-64D943D2AA1A}" type="slidenum">
              <a:rPr lang="en-IN" smtClean="0"/>
              <a:t>‹#›</a:t>
            </a:fld>
            <a:endParaRPr lang="en-IN"/>
          </a:p>
        </p:txBody>
      </p:sp>
    </p:spTree>
    <p:extLst>
      <p:ext uri="{BB962C8B-B14F-4D97-AF65-F5344CB8AC3E}">
        <p14:creationId xmlns:p14="http://schemas.microsoft.com/office/powerpoint/2010/main" val="1198818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A61943F-BD37-030F-E2DE-23F7F03EE220}"/>
              </a:ext>
            </a:extLst>
          </p:cNvPr>
          <p:cNvSpPr txBox="1"/>
          <p:nvPr/>
        </p:nvSpPr>
        <p:spPr>
          <a:xfrm>
            <a:off x="3224981" y="977988"/>
            <a:ext cx="6096000" cy="4274183"/>
          </a:xfrm>
          <a:prstGeom prst="rect">
            <a:avLst/>
          </a:prstGeom>
          <a:noFill/>
        </p:spPr>
        <p:txBody>
          <a:bodyPr wrap="square">
            <a:spAutoFit/>
          </a:bodyPr>
          <a:lstStyle/>
          <a:p>
            <a:pPr algn="ctr">
              <a:lnSpc>
                <a:spcPct val="115000"/>
              </a:lnSpc>
              <a:spcAft>
                <a:spcPts val="800"/>
              </a:spcAft>
              <a:buNone/>
            </a:pPr>
            <a:r>
              <a:rPr lang="en-IN" sz="3600" b="1" kern="1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Building a QA Chatbot on</a:t>
            </a:r>
            <a:endParaRPr lang="en-IN" sz="3600" kern="1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15000"/>
              </a:lnSpc>
              <a:spcAft>
                <a:spcPts val="800"/>
              </a:spcAft>
              <a:buNone/>
            </a:pPr>
            <a:r>
              <a:rPr lang="en-IN" sz="3600" b="1" kern="1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Ancient Greece Using Advanced AI Frameworks</a:t>
            </a:r>
            <a:endParaRPr lang="en-IN" sz="3600" kern="1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15000"/>
              </a:lnSpc>
              <a:spcAft>
                <a:spcPts val="800"/>
              </a:spcAft>
              <a:buNone/>
            </a:pPr>
            <a:r>
              <a:rPr lang="en-IN" sz="3600" b="1"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3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15000"/>
              </a:lnSpc>
              <a:spcAft>
                <a:spcPts val="800"/>
              </a:spcAft>
              <a:buNone/>
            </a:pPr>
            <a:r>
              <a:rPr lang="en-IN" sz="3600" b="1" kern="100" dirty="0">
                <a:effectLst/>
                <a:latin typeface="Times New Roman" panose="02020603050405020304" pitchFamily="18" charset="0"/>
                <a:ea typeface="Calibri" panose="020F0502020204030204" pitchFamily="34" charset="0"/>
                <a:cs typeface="Times New Roman" panose="02020603050405020304" pitchFamily="18" charset="0"/>
              </a:rPr>
              <a:t>By</a:t>
            </a:r>
            <a:endParaRPr lang="en-IN" sz="3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15000"/>
              </a:lnSpc>
              <a:spcAft>
                <a:spcPts val="800"/>
              </a:spcAft>
              <a:buNone/>
            </a:pPr>
            <a:r>
              <a:rPr lang="en-IN" sz="3600" b="1" kern="100" dirty="0">
                <a:effectLst/>
                <a:latin typeface="Times New Roman" panose="02020603050405020304" pitchFamily="18" charset="0"/>
                <a:ea typeface="Calibri" panose="020F0502020204030204" pitchFamily="34" charset="0"/>
                <a:cs typeface="Times New Roman" panose="02020603050405020304" pitchFamily="18" charset="0"/>
              </a:rPr>
              <a:t>Dr. Niraj Bagh</a:t>
            </a:r>
            <a:endParaRPr lang="en-IN" sz="36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34CC8808-776C-9347-407D-5FB7995EEC39}"/>
              </a:ext>
            </a:extLst>
          </p:cNvPr>
          <p:cNvSpPr txBox="1"/>
          <p:nvPr/>
        </p:nvSpPr>
        <p:spPr>
          <a:xfrm>
            <a:off x="9832258" y="508819"/>
            <a:ext cx="2030362" cy="338554"/>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Date: 07/08/2025</a:t>
            </a:r>
            <a:endParaRPr lang="en-IN" sz="1600"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3A9458D7-F4F1-6949-A5D5-C8B750CDCDEA}"/>
              </a:ext>
            </a:extLst>
          </p:cNvPr>
          <p:cNvPicPr>
            <a:picLocks noChangeAspect="1"/>
          </p:cNvPicPr>
          <p:nvPr/>
        </p:nvPicPr>
        <p:blipFill>
          <a:blip r:embed="rId2">
            <a:extLst>
              <a:ext uri="{28A0092B-C50C-407E-A947-70E740481C1C}">
                <a14:useLocalDpi xmlns:a14="http://schemas.microsoft.com/office/drawing/2010/main" val="0"/>
              </a:ext>
            </a:extLst>
          </a:blip>
          <a:srcRect l="8297" r="13314"/>
          <a:stretch>
            <a:fillRect/>
          </a:stretch>
        </p:blipFill>
        <p:spPr>
          <a:xfrm>
            <a:off x="329380" y="113651"/>
            <a:ext cx="2541640" cy="1728673"/>
          </a:xfrm>
          <a:prstGeom prst="rect">
            <a:avLst/>
          </a:prstGeom>
        </p:spPr>
      </p:pic>
    </p:spTree>
    <p:extLst>
      <p:ext uri="{BB962C8B-B14F-4D97-AF65-F5344CB8AC3E}">
        <p14:creationId xmlns:p14="http://schemas.microsoft.com/office/powerpoint/2010/main" val="885753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randombar(horizontal)">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C6104D7-5124-25E8-4712-52F09ECE7720}"/>
              </a:ext>
            </a:extLst>
          </p:cNvPr>
          <p:cNvSpPr txBox="1"/>
          <p:nvPr/>
        </p:nvSpPr>
        <p:spPr>
          <a:xfrm>
            <a:off x="639097" y="444599"/>
            <a:ext cx="6096000" cy="461665"/>
          </a:xfrm>
          <a:prstGeom prst="rect">
            <a:avLst/>
          </a:prstGeom>
          <a:noFill/>
        </p:spPr>
        <p:txBody>
          <a:bodyPr wrap="square">
            <a:spAutoFit/>
          </a:bodyPr>
          <a:lstStyle/>
          <a:p>
            <a:r>
              <a:rPr lang="en-US" sz="2400" b="1" dirty="0">
                <a:solidFill>
                  <a:srgbClr val="180EE2"/>
                </a:solidFill>
                <a:latin typeface="Times New Roman" panose="02020603050405020304" pitchFamily="18" charset="0"/>
                <a:cs typeface="Times New Roman" panose="02020603050405020304" pitchFamily="18" charset="0"/>
              </a:rPr>
              <a:t>Outline</a:t>
            </a:r>
            <a:endParaRPr lang="en-IN" sz="2400" dirty="0"/>
          </a:p>
        </p:txBody>
      </p:sp>
      <p:sp>
        <p:nvSpPr>
          <p:cNvPr id="6" name="TextBox 5">
            <a:extLst>
              <a:ext uri="{FF2B5EF4-FFF2-40B4-BE49-F238E27FC236}">
                <a16:creationId xmlns:a16="http://schemas.microsoft.com/office/drawing/2014/main" id="{51330E5B-EDF0-6063-42D3-3536CFDFB2AA}"/>
              </a:ext>
            </a:extLst>
          </p:cNvPr>
          <p:cNvSpPr txBox="1"/>
          <p:nvPr/>
        </p:nvSpPr>
        <p:spPr>
          <a:xfrm>
            <a:off x="557981" y="1182231"/>
            <a:ext cx="7315200" cy="4093428"/>
          </a:xfrm>
          <a:prstGeom prst="rect">
            <a:avLst/>
          </a:prstGeom>
          <a:noFill/>
        </p:spPr>
        <p:txBody>
          <a:bodyPr wrap="square" rtlCol="0">
            <a:spAutoFit/>
          </a:bodyPr>
          <a:lstStyle/>
          <a:p>
            <a:pPr marL="342900" indent="-342900">
              <a:buAutoNum type="arabicPeriod"/>
            </a:pPr>
            <a:r>
              <a:rPr lang="en-US" sz="2000" b="1" dirty="0">
                <a:latin typeface="Times New Roman" panose="02020603050405020304" pitchFamily="18" charset="0"/>
                <a:cs typeface="Times New Roman" panose="02020603050405020304" pitchFamily="18" charset="0"/>
              </a:rPr>
              <a:t>Workflow</a:t>
            </a:r>
          </a:p>
          <a:p>
            <a:pPr marL="342900" indent="-342900">
              <a:buFontTx/>
              <a:buAutoNum type="arabicPeriod"/>
            </a:pPr>
            <a:r>
              <a:rPr lang="en-IN" sz="2000" b="1" dirty="0">
                <a:latin typeface="Times New Roman" panose="02020603050405020304" pitchFamily="18" charset="0"/>
                <a:cs typeface="Times New Roman" panose="02020603050405020304" pitchFamily="18" charset="0"/>
              </a:rPr>
              <a:t>Diversity-based chunking algorithm analysis</a:t>
            </a:r>
          </a:p>
          <a:p>
            <a:pPr marL="342900" indent="-342900">
              <a:buFontTx/>
              <a:buAutoNum type="arabicPeriod"/>
            </a:pPr>
            <a:r>
              <a:rPr lang="en-IN" sz="2000" b="1" dirty="0">
                <a:latin typeface="Times New Roman" panose="02020603050405020304" pitchFamily="18" charset="0"/>
                <a:cs typeface="Times New Roman" panose="02020603050405020304" pitchFamily="18" charset="0"/>
              </a:rPr>
              <a:t>Document chunking</a:t>
            </a:r>
            <a:endParaRPr lang="en-IN" sz="2000" dirty="0">
              <a:latin typeface="Times New Roman" panose="02020603050405020304" pitchFamily="18" charset="0"/>
              <a:cs typeface="Times New Roman" panose="02020603050405020304" pitchFamily="18" charset="0"/>
            </a:endParaRPr>
          </a:p>
          <a:p>
            <a:pPr marL="342900" indent="-342900">
              <a:buFontTx/>
              <a:buAutoNum type="arabicPeriod"/>
            </a:pPr>
            <a:r>
              <a:rPr lang="en-IN" sz="2000" b="1" dirty="0">
                <a:latin typeface="Times New Roman" panose="02020603050405020304" pitchFamily="18" charset="0"/>
                <a:cs typeface="Times New Roman" panose="02020603050405020304" pitchFamily="18" charset="0"/>
              </a:rPr>
              <a:t> Embedding technique and storing vector data base</a:t>
            </a:r>
            <a:endParaRPr lang="en-IN" sz="2000" dirty="0">
              <a:latin typeface="Times New Roman" panose="02020603050405020304" pitchFamily="18" charset="0"/>
              <a:cs typeface="Times New Roman" panose="02020603050405020304" pitchFamily="18" charset="0"/>
            </a:endParaRPr>
          </a:p>
          <a:p>
            <a:pPr marL="342900" indent="-342900">
              <a:buFontTx/>
              <a:buAutoNum type="arabicPeriod"/>
            </a:pPr>
            <a:r>
              <a:rPr lang="en-IN" sz="2000" b="1" dirty="0">
                <a:latin typeface="Times New Roman" panose="02020603050405020304" pitchFamily="18" charset="0"/>
                <a:cs typeface="Times New Roman" panose="02020603050405020304" pitchFamily="18" charset="0"/>
              </a:rPr>
              <a:t>Retrieval system</a:t>
            </a:r>
            <a:endParaRPr lang="en-IN" sz="2000" dirty="0">
              <a:latin typeface="Times New Roman" panose="02020603050405020304" pitchFamily="18" charset="0"/>
              <a:cs typeface="Times New Roman" panose="02020603050405020304" pitchFamily="18" charset="0"/>
            </a:endParaRPr>
          </a:p>
          <a:p>
            <a:pPr marL="342900" indent="-342900">
              <a:buFontTx/>
              <a:buAutoNum type="arabicPeriod"/>
            </a:pPr>
            <a:r>
              <a:rPr lang="en-IN" sz="2000" b="1" dirty="0">
                <a:latin typeface="Times New Roman" panose="02020603050405020304" pitchFamily="18" charset="0"/>
                <a:cs typeface="Times New Roman" panose="02020603050405020304" pitchFamily="18" charset="0"/>
              </a:rPr>
              <a:t>LLM model and prompt engineering</a:t>
            </a:r>
            <a:endParaRPr lang="en-IN" sz="2000" dirty="0">
              <a:latin typeface="Times New Roman" panose="02020603050405020304" pitchFamily="18" charset="0"/>
              <a:cs typeface="Times New Roman" panose="02020603050405020304" pitchFamily="18" charset="0"/>
            </a:endParaRPr>
          </a:p>
          <a:p>
            <a:pPr marL="342900" indent="-342900">
              <a:buFontTx/>
              <a:buAutoNum type="arabicPeriod"/>
            </a:pPr>
            <a:r>
              <a:rPr lang="en-IN" sz="2000" b="1" dirty="0">
                <a:latin typeface="Times New Roman" panose="02020603050405020304" pitchFamily="18" charset="0"/>
                <a:cs typeface="Times New Roman" panose="02020603050405020304" pitchFamily="18" charset="0"/>
              </a:rPr>
              <a:t>Model evaluation</a:t>
            </a:r>
            <a:endParaRPr lang="en-IN" sz="2000" dirty="0">
              <a:latin typeface="Times New Roman" panose="02020603050405020304" pitchFamily="18" charset="0"/>
              <a:cs typeface="Times New Roman" panose="02020603050405020304" pitchFamily="18" charset="0"/>
            </a:endParaRPr>
          </a:p>
          <a:p>
            <a:pPr marL="342900" indent="-342900">
              <a:buFontTx/>
              <a:buAutoNum type="arabicPeriod"/>
            </a:pPr>
            <a:r>
              <a:rPr lang="en-IN" sz="2000" b="1" dirty="0">
                <a:latin typeface="Times New Roman" panose="02020603050405020304" pitchFamily="18" charset="0"/>
                <a:cs typeface="Times New Roman" panose="02020603050405020304" pitchFamily="18" charset="0"/>
              </a:rPr>
              <a:t>Retrieval system evaluation</a:t>
            </a:r>
            <a:endParaRPr lang="en-IN" sz="2000" dirty="0">
              <a:latin typeface="Times New Roman" panose="02020603050405020304" pitchFamily="18" charset="0"/>
              <a:cs typeface="Times New Roman" panose="02020603050405020304" pitchFamily="18" charset="0"/>
            </a:endParaRPr>
          </a:p>
          <a:p>
            <a:pPr marL="342900" indent="-342900">
              <a:buFontTx/>
              <a:buAutoNum type="arabicPeriod"/>
            </a:pPr>
            <a:r>
              <a:rPr lang="en-IN" sz="2000" b="1" dirty="0">
                <a:latin typeface="Times New Roman" panose="02020603050405020304" pitchFamily="18" charset="0"/>
                <a:cs typeface="Times New Roman" panose="02020603050405020304" pitchFamily="18" charset="0"/>
              </a:rPr>
              <a:t>Results and discussion</a:t>
            </a:r>
            <a:endParaRPr lang="en-IN" sz="2000" dirty="0">
              <a:latin typeface="Times New Roman" panose="02020603050405020304" pitchFamily="18" charset="0"/>
              <a:cs typeface="Times New Roman" panose="02020603050405020304" pitchFamily="18" charset="0"/>
            </a:endParaRPr>
          </a:p>
          <a:p>
            <a:pPr marL="342900" indent="-342900">
              <a:buFontTx/>
              <a:buAutoNum type="arabicPeriod"/>
            </a:pPr>
            <a:r>
              <a:rPr lang="en-IN" sz="2000" b="1" dirty="0">
                <a:latin typeface="Times New Roman" panose="02020603050405020304" pitchFamily="18" charset="0"/>
                <a:cs typeface="Times New Roman" panose="02020603050405020304" pitchFamily="18" charset="0"/>
              </a:rPr>
              <a:t> Challenges in the current chatbot </a:t>
            </a:r>
            <a:endParaRPr lang="en-IN" sz="2000" dirty="0">
              <a:latin typeface="Times New Roman" panose="02020603050405020304" pitchFamily="18" charset="0"/>
              <a:cs typeface="Times New Roman" panose="02020603050405020304" pitchFamily="18" charset="0"/>
            </a:endParaRPr>
          </a:p>
          <a:p>
            <a:pPr marL="342900" indent="-342900">
              <a:buFontTx/>
              <a:buAutoNum type="arabicPeriod"/>
            </a:pPr>
            <a:r>
              <a:rPr lang="en-IN" sz="2000" b="1" dirty="0">
                <a:latin typeface="Times New Roman" panose="02020603050405020304" pitchFamily="18" charset="0"/>
                <a:cs typeface="Times New Roman" panose="02020603050405020304" pitchFamily="18" charset="0"/>
              </a:rPr>
              <a:t> Future work</a:t>
            </a:r>
          </a:p>
          <a:p>
            <a:pPr marL="342900" indent="-342900">
              <a:buFontTx/>
              <a:buAutoNum type="arabicPeriod"/>
            </a:pPr>
            <a:r>
              <a:rPr lang="en-IN" sz="2000" b="1" dirty="0">
                <a:latin typeface="Times New Roman" panose="02020603050405020304" pitchFamily="18" charset="0"/>
                <a:cs typeface="Times New Roman" panose="02020603050405020304" pitchFamily="18" charset="0"/>
              </a:rPr>
              <a:t> Conclusion</a:t>
            </a:r>
            <a:endParaRPr lang="en-US" sz="2000" b="1" dirty="0">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2033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randombar(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randombar(horizontal)">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randombar(horizontal)">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randombar(horizontal)">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randombar(horizontal)">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randombar(horizontal)">
                                      <p:cBhvr>
                                        <p:cTn id="32" dur="500"/>
                                        <p:tgtEl>
                                          <p:spTgt spid="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Effect transition="in" filter="randombar(horizontal)">
                                      <p:cBhvr>
                                        <p:cTn id="37" dur="500"/>
                                        <p:tgtEl>
                                          <p:spTgt spid="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nodeType="clickEffect">
                                  <p:stCondLst>
                                    <p:cond delay="0"/>
                                  </p:stCondLst>
                                  <p:childTnLst>
                                    <p:set>
                                      <p:cBhvr>
                                        <p:cTn id="41" dur="1" fill="hold">
                                          <p:stCondLst>
                                            <p:cond delay="0"/>
                                          </p:stCondLst>
                                        </p:cTn>
                                        <p:tgtEl>
                                          <p:spTgt spid="6">
                                            <p:txEl>
                                              <p:pRg st="7" end="7"/>
                                            </p:txEl>
                                          </p:spTgt>
                                        </p:tgtEl>
                                        <p:attrNameLst>
                                          <p:attrName>style.visibility</p:attrName>
                                        </p:attrNameLst>
                                      </p:cBhvr>
                                      <p:to>
                                        <p:strVal val="visible"/>
                                      </p:to>
                                    </p:set>
                                    <p:animEffect transition="in" filter="randombar(horizontal)">
                                      <p:cBhvr>
                                        <p:cTn id="42" dur="500"/>
                                        <p:tgtEl>
                                          <p:spTgt spid="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nodeType="clickEffect">
                                  <p:stCondLst>
                                    <p:cond delay="0"/>
                                  </p:stCondLst>
                                  <p:childTnLst>
                                    <p:set>
                                      <p:cBhvr>
                                        <p:cTn id="46" dur="1" fill="hold">
                                          <p:stCondLst>
                                            <p:cond delay="0"/>
                                          </p:stCondLst>
                                        </p:cTn>
                                        <p:tgtEl>
                                          <p:spTgt spid="6">
                                            <p:txEl>
                                              <p:pRg st="8" end="8"/>
                                            </p:txEl>
                                          </p:spTgt>
                                        </p:tgtEl>
                                        <p:attrNameLst>
                                          <p:attrName>style.visibility</p:attrName>
                                        </p:attrNameLst>
                                      </p:cBhvr>
                                      <p:to>
                                        <p:strVal val="visible"/>
                                      </p:to>
                                    </p:set>
                                    <p:animEffect transition="in" filter="randombar(horizontal)">
                                      <p:cBhvr>
                                        <p:cTn id="47" dur="500"/>
                                        <p:tgtEl>
                                          <p:spTgt spid="6">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4" presetClass="entr" presetSubtype="10" fill="hold" nodeType="clickEffect">
                                  <p:stCondLst>
                                    <p:cond delay="0"/>
                                  </p:stCondLst>
                                  <p:childTnLst>
                                    <p:set>
                                      <p:cBhvr>
                                        <p:cTn id="51" dur="1" fill="hold">
                                          <p:stCondLst>
                                            <p:cond delay="0"/>
                                          </p:stCondLst>
                                        </p:cTn>
                                        <p:tgtEl>
                                          <p:spTgt spid="6">
                                            <p:txEl>
                                              <p:pRg st="9" end="9"/>
                                            </p:txEl>
                                          </p:spTgt>
                                        </p:tgtEl>
                                        <p:attrNameLst>
                                          <p:attrName>style.visibility</p:attrName>
                                        </p:attrNameLst>
                                      </p:cBhvr>
                                      <p:to>
                                        <p:strVal val="visible"/>
                                      </p:to>
                                    </p:set>
                                    <p:animEffect transition="in" filter="randombar(horizontal)">
                                      <p:cBhvr>
                                        <p:cTn id="52" dur="500"/>
                                        <p:tgtEl>
                                          <p:spTgt spid="6">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4" presetClass="entr" presetSubtype="10" fill="hold" nodeType="clickEffect">
                                  <p:stCondLst>
                                    <p:cond delay="0"/>
                                  </p:stCondLst>
                                  <p:childTnLst>
                                    <p:set>
                                      <p:cBhvr>
                                        <p:cTn id="56" dur="1" fill="hold">
                                          <p:stCondLst>
                                            <p:cond delay="0"/>
                                          </p:stCondLst>
                                        </p:cTn>
                                        <p:tgtEl>
                                          <p:spTgt spid="6">
                                            <p:txEl>
                                              <p:pRg st="10" end="10"/>
                                            </p:txEl>
                                          </p:spTgt>
                                        </p:tgtEl>
                                        <p:attrNameLst>
                                          <p:attrName>style.visibility</p:attrName>
                                        </p:attrNameLst>
                                      </p:cBhvr>
                                      <p:to>
                                        <p:strVal val="visible"/>
                                      </p:to>
                                    </p:set>
                                    <p:animEffect transition="in" filter="randombar(horizontal)">
                                      <p:cBhvr>
                                        <p:cTn id="57" dur="500"/>
                                        <p:tgtEl>
                                          <p:spTgt spid="6">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4" presetClass="entr" presetSubtype="10" fill="hold" nodeType="clickEffect">
                                  <p:stCondLst>
                                    <p:cond delay="0"/>
                                  </p:stCondLst>
                                  <p:childTnLst>
                                    <p:set>
                                      <p:cBhvr>
                                        <p:cTn id="61" dur="1" fill="hold">
                                          <p:stCondLst>
                                            <p:cond delay="0"/>
                                          </p:stCondLst>
                                        </p:cTn>
                                        <p:tgtEl>
                                          <p:spTgt spid="6">
                                            <p:txEl>
                                              <p:pRg st="11" end="11"/>
                                            </p:txEl>
                                          </p:spTgt>
                                        </p:tgtEl>
                                        <p:attrNameLst>
                                          <p:attrName>style.visibility</p:attrName>
                                        </p:attrNameLst>
                                      </p:cBhvr>
                                      <p:to>
                                        <p:strVal val="visible"/>
                                      </p:to>
                                    </p:set>
                                    <p:animEffect transition="in" filter="randombar(horizontal)">
                                      <p:cBhvr>
                                        <p:cTn id="62" dur="500"/>
                                        <p:tgtEl>
                                          <p:spTgt spid="6">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D3E1CE5-0B0B-4897-8BD4-7BF5D430CFF8}"/>
              </a:ext>
            </a:extLst>
          </p:cNvPr>
          <p:cNvSpPr>
            <a:spLocks noGrp="1"/>
          </p:cNvSpPr>
          <p:nvPr>
            <p:ph type="title"/>
          </p:nvPr>
        </p:nvSpPr>
        <p:spPr>
          <a:xfrm>
            <a:off x="253180" y="194187"/>
            <a:ext cx="4953000" cy="685800"/>
          </a:xfrm>
        </p:spPr>
        <p:txBody>
          <a:bodyPr>
            <a:noAutofit/>
          </a:bodyPr>
          <a:lstStyle/>
          <a:p>
            <a:pPr algn="l"/>
            <a:r>
              <a:rPr lang="en-US" sz="2400" b="1" dirty="0">
                <a:solidFill>
                  <a:srgbClr val="180EE2"/>
                </a:solidFill>
                <a:latin typeface="Times New Roman" panose="02020603050405020304" pitchFamily="18" charset="0"/>
                <a:cs typeface="Times New Roman" panose="02020603050405020304" pitchFamily="18" charset="0"/>
              </a:rPr>
              <a:t>1. Workflow</a:t>
            </a:r>
          </a:p>
        </p:txBody>
      </p:sp>
      <p:sp>
        <p:nvSpPr>
          <p:cNvPr id="6" name="TextBox 5">
            <a:extLst>
              <a:ext uri="{FF2B5EF4-FFF2-40B4-BE49-F238E27FC236}">
                <a16:creationId xmlns:a16="http://schemas.microsoft.com/office/drawing/2014/main" id="{77DA2936-DCDB-7FED-B9D9-22F64C542A4C}"/>
              </a:ext>
            </a:extLst>
          </p:cNvPr>
          <p:cNvSpPr txBox="1"/>
          <p:nvPr/>
        </p:nvSpPr>
        <p:spPr>
          <a:xfrm>
            <a:off x="253180" y="1492685"/>
            <a:ext cx="5437238" cy="4905189"/>
          </a:xfrm>
          <a:prstGeom prst="rect">
            <a:avLst/>
          </a:prstGeom>
          <a:noFill/>
        </p:spPr>
        <p:txBody>
          <a:bodyPr wrap="square">
            <a:spAutoFit/>
          </a:bodyPr>
          <a:lstStyle/>
          <a:p>
            <a:pPr marL="285750" lvl="0" indent="-285750" algn="just">
              <a:lnSpc>
                <a:spcPct val="115000"/>
              </a:lnSpc>
              <a:buFont typeface="Wingdings" panose="05000000000000000000" pitchFamily="2" charset="2"/>
              <a:buChar char="v"/>
            </a:pPr>
            <a:r>
              <a:rPr lang="en-IN" sz="1300" b="1" kern="100" dirty="0">
                <a:effectLst/>
                <a:latin typeface="Times New Roman" panose="02020603050405020304" pitchFamily="18" charset="0"/>
                <a:ea typeface="Calibri" panose="020F0502020204030204" pitchFamily="34" charset="0"/>
                <a:cs typeface="Times New Roman" panose="02020603050405020304" pitchFamily="18" charset="0"/>
              </a:rPr>
              <a:t>Load the Dataset: </a:t>
            </a:r>
            <a:r>
              <a:rPr lang="en-IN" sz="1300" kern="100" dirty="0">
                <a:effectLst/>
                <a:latin typeface="Times New Roman" panose="02020603050405020304" pitchFamily="18" charset="0"/>
                <a:ea typeface="Calibri" panose="020F0502020204030204" pitchFamily="34" charset="0"/>
                <a:cs typeface="Times New Roman" panose="02020603050405020304" pitchFamily="18" charset="0"/>
              </a:rPr>
              <a:t>Load the dataset consisting of 60 individual text files.</a:t>
            </a:r>
          </a:p>
          <a:p>
            <a:pPr marL="457200" algn="just">
              <a:lnSpc>
                <a:spcPct val="115000"/>
              </a:lnSpc>
            </a:pPr>
            <a:endParaRPr lang="en-IN" sz="13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IN" sz="1300" b="1" kern="100" dirty="0">
                <a:effectLst/>
                <a:latin typeface="Times New Roman" panose="02020603050405020304" pitchFamily="18" charset="0"/>
                <a:ea typeface="Calibri" panose="020F0502020204030204" pitchFamily="34" charset="0"/>
                <a:cs typeface="Times New Roman" panose="02020603050405020304" pitchFamily="18" charset="0"/>
              </a:rPr>
              <a:t>Text Preprocessing: </a:t>
            </a:r>
            <a:r>
              <a:rPr lang="en-IN" sz="1300" kern="100" dirty="0">
                <a:effectLst/>
                <a:latin typeface="Times New Roman" panose="02020603050405020304" pitchFamily="18" charset="0"/>
                <a:ea typeface="Calibri" panose="020F0502020204030204" pitchFamily="34" charset="0"/>
                <a:cs typeface="Times New Roman" panose="02020603050405020304" pitchFamily="18" charset="0"/>
              </a:rPr>
              <a:t>Apply preprocessing techniques to clean the text data by removing special characters, noise, stop words, etc.</a:t>
            </a:r>
          </a:p>
          <a:p>
            <a:pPr marL="457200">
              <a:lnSpc>
                <a:spcPct val="115000"/>
              </a:lnSpc>
            </a:pPr>
            <a:r>
              <a:rPr lang="en-IN" sz="1300" b="1"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3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IN" sz="1300" b="1" kern="100" dirty="0">
                <a:effectLst/>
                <a:latin typeface="Times New Roman" panose="02020603050405020304" pitchFamily="18" charset="0"/>
                <a:ea typeface="Calibri" panose="020F0502020204030204" pitchFamily="34" charset="0"/>
                <a:cs typeface="Times New Roman" panose="02020603050405020304" pitchFamily="18" charset="0"/>
              </a:rPr>
              <a:t>Determine Optimal Chunking Parameters: </a:t>
            </a:r>
            <a:r>
              <a:rPr lang="en-IN" sz="1300" kern="100" dirty="0">
                <a:effectLst/>
                <a:latin typeface="Times New Roman" panose="02020603050405020304" pitchFamily="18" charset="0"/>
                <a:ea typeface="Calibri" panose="020F0502020204030204" pitchFamily="34" charset="0"/>
                <a:cs typeface="Times New Roman" panose="02020603050405020304" pitchFamily="18" charset="0"/>
              </a:rPr>
              <a:t>Use a novel chunking technique to determine the optimal window size and overlap percentage for dividing text. </a:t>
            </a:r>
          </a:p>
          <a:p>
            <a:pPr marL="457200">
              <a:lnSpc>
                <a:spcPct val="115000"/>
              </a:lnSpc>
            </a:pPr>
            <a:r>
              <a:rPr lang="en-IN" sz="1300" b="1"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3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IN" sz="1300" b="1" kern="100" dirty="0">
                <a:effectLst/>
                <a:latin typeface="Times New Roman" panose="02020603050405020304" pitchFamily="18" charset="0"/>
                <a:ea typeface="Calibri" panose="020F0502020204030204" pitchFamily="34" charset="0"/>
                <a:cs typeface="Times New Roman" panose="02020603050405020304" pitchFamily="18" charset="0"/>
              </a:rPr>
              <a:t>Chunk the Text:  </a:t>
            </a:r>
            <a:r>
              <a:rPr lang="en-IN" sz="1300" kern="100" dirty="0">
                <a:effectLst/>
                <a:latin typeface="Times New Roman" panose="02020603050405020304" pitchFamily="18" charset="0"/>
                <a:ea typeface="Calibri" panose="020F0502020204030204" pitchFamily="34" charset="0"/>
                <a:cs typeface="Times New Roman" panose="02020603050405020304" pitchFamily="18" charset="0"/>
              </a:rPr>
              <a:t>Split the documents into chunks using the identified optimal window size and overlapping strategy.</a:t>
            </a:r>
          </a:p>
          <a:p>
            <a:pPr marL="457200">
              <a:lnSpc>
                <a:spcPct val="115000"/>
              </a:lnSpc>
            </a:pPr>
            <a:r>
              <a:rPr lang="en-IN" sz="1300" b="1"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3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IN" sz="1300" b="1" kern="100" dirty="0">
                <a:effectLst/>
                <a:latin typeface="Times New Roman" panose="02020603050405020304" pitchFamily="18" charset="0"/>
                <a:ea typeface="Calibri" panose="020F0502020204030204" pitchFamily="34" charset="0"/>
                <a:cs typeface="Times New Roman" panose="02020603050405020304" pitchFamily="18" charset="0"/>
              </a:rPr>
              <a:t>Generate Embeddings: </a:t>
            </a:r>
            <a:r>
              <a:rPr lang="en-IN" sz="1300" kern="100" dirty="0">
                <a:effectLst/>
                <a:latin typeface="Times New Roman" panose="02020603050405020304" pitchFamily="18" charset="0"/>
                <a:ea typeface="Calibri" panose="020F0502020204030204" pitchFamily="34" charset="0"/>
                <a:cs typeface="Times New Roman" panose="02020603050405020304" pitchFamily="18" charset="0"/>
              </a:rPr>
              <a:t>Convert each text chunk into an embedding vector using the </a:t>
            </a:r>
            <a:r>
              <a:rPr lang="en-IN" sz="1300" b="1" kern="1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OpenAI Embedding.</a:t>
            </a:r>
            <a:r>
              <a:rPr lang="en-IN" sz="1300" kern="100" dirty="0">
                <a:effectLst/>
                <a:latin typeface="Times New Roman" panose="02020603050405020304" pitchFamily="18" charset="0"/>
                <a:ea typeface="Calibri" panose="020F0502020204030204" pitchFamily="34" charset="0"/>
                <a:cs typeface="Times New Roman" panose="02020603050405020304" pitchFamily="18" charset="0"/>
              </a:rPr>
              <a:t> Store Embeddings Vector  along with the metadata in a </a:t>
            </a:r>
            <a:r>
              <a:rPr lang="en-IN" sz="13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ChromaDB</a:t>
            </a:r>
            <a:r>
              <a:rPr lang="en-IN" sz="1300" kern="100" dirty="0">
                <a:effectLst/>
                <a:latin typeface="Times New Roman" panose="02020603050405020304" pitchFamily="18" charset="0"/>
                <a:ea typeface="Calibri" panose="020F0502020204030204" pitchFamily="34" charset="0"/>
                <a:cs typeface="Times New Roman" panose="02020603050405020304" pitchFamily="18" charset="0"/>
              </a:rPr>
              <a:t> vector database. </a:t>
            </a:r>
          </a:p>
          <a:p>
            <a:pPr marL="457200">
              <a:lnSpc>
                <a:spcPct val="115000"/>
              </a:lnSpc>
            </a:pPr>
            <a:endParaRPr lang="en-IN" sz="13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IN" sz="1300" b="1" kern="100" dirty="0">
                <a:effectLst/>
                <a:latin typeface="Times New Roman" panose="02020603050405020304" pitchFamily="18" charset="0"/>
                <a:ea typeface="Calibri" panose="020F0502020204030204" pitchFamily="34" charset="0"/>
                <a:cs typeface="Times New Roman" panose="02020603050405020304" pitchFamily="18" charset="0"/>
              </a:rPr>
              <a:t>Process User Query: </a:t>
            </a:r>
            <a:r>
              <a:rPr lang="en-IN" sz="1300" kern="100" dirty="0">
                <a:effectLst/>
                <a:latin typeface="Times New Roman" panose="02020603050405020304" pitchFamily="18" charset="0"/>
                <a:ea typeface="Calibri" panose="020F0502020204030204" pitchFamily="34" charset="0"/>
                <a:cs typeface="Times New Roman" panose="02020603050405020304" pitchFamily="18" charset="0"/>
              </a:rPr>
              <a:t>Accept a user query and apply preprocessing steps.</a:t>
            </a:r>
          </a:p>
          <a:p>
            <a:pPr marL="457200">
              <a:lnSpc>
                <a:spcPct val="115000"/>
              </a:lnSpc>
            </a:pPr>
            <a:r>
              <a:rPr lang="en-IN" sz="1300" b="1" i="1"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3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IN" sz="1300" b="1" kern="100" dirty="0">
                <a:effectLst/>
                <a:latin typeface="Times New Roman" panose="02020603050405020304" pitchFamily="18" charset="0"/>
                <a:ea typeface="Calibri" panose="020F0502020204030204" pitchFamily="34" charset="0"/>
                <a:cs typeface="Times New Roman" panose="02020603050405020304" pitchFamily="18" charset="0"/>
              </a:rPr>
              <a:t>Query Embedding: </a:t>
            </a:r>
            <a:r>
              <a:rPr lang="en-IN" sz="1300" kern="100" dirty="0">
                <a:effectLst/>
                <a:latin typeface="Times New Roman" panose="02020603050405020304" pitchFamily="18" charset="0"/>
                <a:ea typeface="Calibri" panose="020F0502020204030204" pitchFamily="34" charset="0"/>
                <a:cs typeface="Times New Roman" panose="02020603050405020304" pitchFamily="18" charset="0"/>
              </a:rPr>
              <a:t>Generate the embedding for the processed query using the </a:t>
            </a:r>
            <a:r>
              <a:rPr lang="en-IN" sz="1300" b="1" kern="1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OpenAI Embedding</a:t>
            </a:r>
            <a:r>
              <a:rPr lang="en-IN" sz="1300" kern="100" dirty="0">
                <a:effectLst/>
                <a:latin typeface="Times New Roman" panose="02020603050405020304" pitchFamily="18" charset="0"/>
                <a:ea typeface="Calibri" panose="020F0502020204030204" pitchFamily="34" charset="0"/>
                <a:cs typeface="Times New Roman" panose="02020603050405020304" pitchFamily="18" charset="0"/>
              </a:rPr>
              <a:t>.</a:t>
            </a:r>
          </a:p>
          <a:p>
            <a:pPr marL="457200">
              <a:lnSpc>
                <a:spcPct val="115000"/>
              </a:lnSpc>
            </a:pPr>
            <a:endParaRPr lang="en-IN" sz="13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369D83D1-C6B3-1518-A1DA-441B23FF3399}"/>
              </a:ext>
            </a:extLst>
          </p:cNvPr>
          <p:cNvSpPr txBox="1"/>
          <p:nvPr/>
        </p:nvSpPr>
        <p:spPr>
          <a:xfrm>
            <a:off x="6272980" y="1022552"/>
            <a:ext cx="5437238" cy="4675126"/>
          </a:xfrm>
          <a:prstGeom prst="rect">
            <a:avLst/>
          </a:prstGeom>
          <a:noFill/>
        </p:spPr>
        <p:txBody>
          <a:bodyPr wrap="square">
            <a:spAutoFit/>
          </a:bodyPr>
          <a:lstStyle/>
          <a:p>
            <a:pPr lvl="0" algn="just">
              <a:lnSpc>
                <a:spcPct val="115000"/>
              </a:lnSpc>
            </a:pPr>
            <a:endParaRPr lang="en-IN" sz="13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a:lnSpc>
                <a:spcPct val="115000"/>
              </a:lnSpc>
              <a:buNone/>
            </a:pPr>
            <a:r>
              <a:rPr lang="en-IN" sz="13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marL="285750" lvl="0" indent="-285750" algn="just">
              <a:lnSpc>
                <a:spcPct val="115000"/>
              </a:lnSpc>
              <a:buFont typeface="Wingdings" panose="05000000000000000000" pitchFamily="2" charset="2"/>
              <a:buChar char="v"/>
            </a:pPr>
            <a:r>
              <a:rPr lang="en-IN" sz="1300" b="1" kern="100" dirty="0">
                <a:effectLst/>
                <a:latin typeface="Times New Roman" panose="02020603050405020304" pitchFamily="18" charset="0"/>
                <a:ea typeface="Calibri" panose="020F0502020204030204" pitchFamily="34" charset="0"/>
                <a:cs typeface="Times New Roman" panose="02020603050405020304" pitchFamily="18" charset="0"/>
              </a:rPr>
              <a:t>Hybrid Retrieval and Re-ranking Technique:</a:t>
            </a:r>
            <a:r>
              <a:rPr lang="en-IN" sz="1300" b="1" i="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300" kern="100" dirty="0">
                <a:effectLst/>
                <a:latin typeface="Times New Roman" panose="02020603050405020304" pitchFamily="18" charset="0"/>
                <a:ea typeface="Calibri" panose="020F0502020204030204" pitchFamily="34" charset="0"/>
                <a:cs typeface="Times New Roman" panose="02020603050405020304" pitchFamily="18" charset="0"/>
              </a:rPr>
              <a:t>Perform both keyword-based retrieval </a:t>
            </a:r>
            <a:r>
              <a:rPr lang="en-IN" sz="1300" b="1" kern="100"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rPr>
              <a:t>(BM25) </a:t>
            </a:r>
            <a:r>
              <a:rPr lang="en-IN" sz="1300" kern="100" dirty="0">
                <a:effectLst/>
                <a:latin typeface="Times New Roman" panose="02020603050405020304" pitchFamily="18" charset="0"/>
                <a:ea typeface="Calibri" panose="020F0502020204030204" pitchFamily="34" charset="0"/>
                <a:cs typeface="Times New Roman" panose="02020603050405020304" pitchFamily="18" charset="0"/>
              </a:rPr>
              <a:t>and dense vector similarity search. Select the top 5 relevant documents and re-rank them using a cross-encoder transformer.</a:t>
            </a:r>
          </a:p>
          <a:p>
            <a:pPr marL="457200">
              <a:lnSpc>
                <a:spcPct val="115000"/>
              </a:lnSpc>
            </a:pPr>
            <a:endParaRPr lang="en-IN" sz="13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IN" sz="1300" b="1" kern="100" dirty="0">
                <a:effectLst/>
                <a:latin typeface="Times New Roman" panose="02020603050405020304" pitchFamily="18" charset="0"/>
                <a:ea typeface="Calibri" panose="020F0502020204030204" pitchFamily="34" charset="0"/>
                <a:cs typeface="Times New Roman" panose="02020603050405020304" pitchFamily="18" charset="0"/>
              </a:rPr>
              <a:t>Prepare LLM Input: </a:t>
            </a:r>
            <a:r>
              <a:rPr lang="en-IN" sz="1300" kern="100" dirty="0">
                <a:effectLst/>
                <a:latin typeface="Times New Roman" panose="02020603050405020304" pitchFamily="18" charset="0"/>
                <a:ea typeface="Calibri" panose="020F0502020204030204" pitchFamily="34" charset="0"/>
                <a:cs typeface="Times New Roman" panose="02020603050405020304" pitchFamily="18" charset="0"/>
              </a:rPr>
              <a:t>Combine the processed query and the top 5 relevant documents for LLM input.</a:t>
            </a:r>
          </a:p>
          <a:p>
            <a:pPr marL="457200">
              <a:lnSpc>
                <a:spcPct val="115000"/>
              </a:lnSpc>
            </a:pPr>
            <a:endParaRPr lang="en-IN" sz="13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IN" sz="1300" b="1" kern="100" dirty="0">
                <a:effectLst/>
                <a:latin typeface="Times New Roman" panose="02020603050405020304" pitchFamily="18" charset="0"/>
                <a:ea typeface="Calibri" panose="020F0502020204030204" pitchFamily="34" charset="0"/>
                <a:cs typeface="Times New Roman" panose="02020603050405020304" pitchFamily="18" charset="0"/>
              </a:rPr>
              <a:t>Configure LLMs and Prompts: </a:t>
            </a:r>
            <a:r>
              <a:rPr lang="en-IN" sz="1300" kern="100" dirty="0">
                <a:effectLst/>
                <a:latin typeface="Times New Roman" panose="02020603050405020304" pitchFamily="18" charset="0"/>
                <a:ea typeface="Calibri" panose="020F0502020204030204" pitchFamily="34" charset="0"/>
                <a:cs typeface="Times New Roman" panose="02020603050405020304" pitchFamily="18" charset="0"/>
              </a:rPr>
              <a:t>Define both open-source </a:t>
            </a:r>
            <a:r>
              <a:rPr lang="en-IN" sz="13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(LLaMA, Mistral</a:t>
            </a:r>
            <a:r>
              <a:rPr lang="en-IN" sz="1300" kern="100" dirty="0">
                <a:effectLst/>
                <a:latin typeface="Times New Roman" panose="02020603050405020304" pitchFamily="18" charset="0"/>
                <a:ea typeface="Calibri" panose="020F0502020204030204" pitchFamily="34" charset="0"/>
                <a:cs typeface="Times New Roman" panose="02020603050405020304" pitchFamily="18" charset="0"/>
              </a:rPr>
              <a:t>) and closed-source </a:t>
            </a:r>
            <a:r>
              <a:rPr lang="en-IN" sz="1300" b="1" kern="1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(OpenAI) </a:t>
            </a:r>
            <a:r>
              <a:rPr lang="en-IN" sz="1300" kern="100" dirty="0">
                <a:effectLst/>
                <a:latin typeface="Times New Roman" panose="02020603050405020304" pitchFamily="18" charset="0"/>
                <a:ea typeface="Calibri" panose="020F0502020204030204" pitchFamily="34" charset="0"/>
                <a:cs typeface="Times New Roman" panose="02020603050405020304" pitchFamily="18" charset="0"/>
              </a:rPr>
              <a:t>LLMs along with appropriate prompt templates and parameters. The prompts are crafted to reduce hallucination and include source citations.</a:t>
            </a:r>
          </a:p>
          <a:p>
            <a:pPr marL="457200">
              <a:lnSpc>
                <a:spcPct val="115000"/>
              </a:lnSpc>
            </a:pPr>
            <a:endParaRPr lang="en-IN" sz="13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IN" sz="1300" b="1" kern="100" dirty="0">
                <a:effectLst/>
                <a:latin typeface="Times New Roman" panose="02020603050405020304" pitchFamily="18" charset="0"/>
                <a:ea typeface="Calibri" panose="020F0502020204030204" pitchFamily="34" charset="0"/>
                <a:cs typeface="Times New Roman" panose="02020603050405020304" pitchFamily="18" charset="0"/>
              </a:rPr>
              <a:t>Generate LLM Response: </a:t>
            </a:r>
            <a:r>
              <a:rPr lang="en-IN" sz="1300" kern="100" dirty="0">
                <a:effectLst/>
                <a:latin typeface="Times New Roman" panose="02020603050405020304" pitchFamily="18" charset="0"/>
                <a:ea typeface="Calibri" panose="020F0502020204030204" pitchFamily="34" charset="0"/>
                <a:cs typeface="Times New Roman" panose="02020603050405020304" pitchFamily="18" charset="0"/>
              </a:rPr>
              <a:t>Feed the processed query and relevant documents to the selected LLM. The model generates an answer along with source citations.</a:t>
            </a:r>
          </a:p>
          <a:p>
            <a:pPr marL="457200">
              <a:lnSpc>
                <a:spcPct val="115000"/>
              </a:lnSpc>
            </a:pPr>
            <a:endParaRPr lang="en-IN" sz="13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lvl="0" indent="-285750" algn="just">
              <a:lnSpc>
                <a:spcPct val="115000"/>
              </a:lnSpc>
              <a:spcAft>
                <a:spcPts val="800"/>
              </a:spcAft>
              <a:buFont typeface="Wingdings" panose="05000000000000000000" pitchFamily="2" charset="2"/>
              <a:buChar char="v"/>
            </a:pPr>
            <a:r>
              <a:rPr lang="en-IN" sz="1300" b="1" kern="100" dirty="0">
                <a:effectLst/>
                <a:latin typeface="Times New Roman" panose="02020603050405020304" pitchFamily="18" charset="0"/>
                <a:ea typeface="Calibri" panose="020F0502020204030204" pitchFamily="34" charset="0"/>
                <a:cs typeface="Times New Roman" panose="02020603050405020304" pitchFamily="18" charset="0"/>
              </a:rPr>
              <a:t>Evaluate System Performance: </a:t>
            </a:r>
            <a:r>
              <a:rPr lang="en-IN" sz="1300" kern="100" dirty="0">
                <a:effectLst/>
                <a:latin typeface="Times New Roman" panose="02020603050405020304" pitchFamily="18" charset="0"/>
                <a:ea typeface="Calibri" panose="020F0502020204030204" pitchFamily="34" charset="0"/>
                <a:cs typeface="Times New Roman" panose="02020603050405020304" pitchFamily="18" charset="0"/>
              </a:rPr>
              <a:t>Evaluate the quality of the LLM-generated response and the retrieval system.</a:t>
            </a:r>
          </a:p>
        </p:txBody>
      </p:sp>
      <p:sp>
        <p:nvSpPr>
          <p:cNvPr id="9" name="TextBox 8">
            <a:extLst>
              <a:ext uri="{FF2B5EF4-FFF2-40B4-BE49-F238E27FC236}">
                <a16:creationId xmlns:a16="http://schemas.microsoft.com/office/drawing/2014/main" id="{00C02641-F95E-67AC-7C9B-990CD238860A}"/>
              </a:ext>
            </a:extLst>
          </p:cNvPr>
          <p:cNvSpPr txBox="1"/>
          <p:nvPr/>
        </p:nvSpPr>
        <p:spPr>
          <a:xfrm>
            <a:off x="253180" y="943896"/>
            <a:ext cx="6096000" cy="307777"/>
          </a:xfrm>
          <a:prstGeom prst="rect">
            <a:avLst/>
          </a:prstGeom>
          <a:noFill/>
        </p:spPr>
        <p:txBody>
          <a:bodyPr wrap="square">
            <a:spAutoFit/>
          </a:bodyPr>
          <a:lstStyle/>
          <a:p>
            <a:pPr algn="just">
              <a:lnSpc>
                <a:spcPct val="115000"/>
              </a:lnSpc>
              <a:spcAft>
                <a:spcPts val="800"/>
              </a:spcAft>
              <a:buNone/>
            </a:pPr>
            <a:r>
              <a:rPr lang="en-IN" sz="1300" kern="100" dirty="0">
                <a:effectLst/>
                <a:latin typeface="Times New Roman" panose="02020603050405020304" pitchFamily="18" charset="0"/>
                <a:ea typeface="Calibri" panose="020F0502020204030204" pitchFamily="34" charset="0"/>
                <a:cs typeface="Times New Roman" panose="02020603050405020304" pitchFamily="18" charset="0"/>
              </a:rPr>
              <a:t>The detailed steps for the proposed project are  explained below:</a:t>
            </a:r>
            <a:endParaRPr lang="en-IN" sz="13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42387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randombar(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randombar(horizont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randombar(horizontal)">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A1A5607B-C4DA-D998-86A3-707D7BC52580}"/>
              </a:ext>
            </a:extLst>
          </p:cNvPr>
          <p:cNvGrpSpPr/>
          <p:nvPr/>
        </p:nvGrpSpPr>
        <p:grpSpPr>
          <a:xfrm>
            <a:off x="1098755" y="865239"/>
            <a:ext cx="10274710" cy="5634321"/>
            <a:chOff x="353961" y="500224"/>
            <a:chExt cx="11149780" cy="6257432"/>
          </a:xfrm>
        </p:grpSpPr>
        <p:cxnSp>
          <p:nvCxnSpPr>
            <p:cNvPr id="7" name="Straight Arrow Connector 6">
              <a:extLst>
                <a:ext uri="{FF2B5EF4-FFF2-40B4-BE49-F238E27FC236}">
                  <a16:creationId xmlns:a16="http://schemas.microsoft.com/office/drawing/2014/main" id="{B41F4CFD-887A-FB1F-F778-22346A23F221}"/>
                </a:ext>
              </a:extLst>
            </p:cNvPr>
            <p:cNvCxnSpPr>
              <a:cxnSpLocks/>
            </p:cNvCxnSpPr>
            <p:nvPr/>
          </p:nvCxnSpPr>
          <p:spPr>
            <a:xfrm>
              <a:off x="1759975" y="1149146"/>
              <a:ext cx="52110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8" name="Rectangle 7">
              <a:extLst>
                <a:ext uri="{FF2B5EF4-FFF2-40B4-BE49-F238E27FC236}">
                  <a16:creationId xmlns:a16="http://schemas.microsoft.com/office/drawing/2014/main" id="{FEDFEB9B-5AA6-CE71-5DA3-5E8084F6D022}"/>
                </a:ext>
              </a:extLst>
            </p:cNvPr>
            <p:cNvSpPr/>
            <p:nvPr/>
          </p:nvSpPr>
          <p:spPr>
            <a:xfrm>
              <a:off x="353961" y="500224"/>
              <a:ext cx="1406014" cy="1297844"/>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Greece</a:t>
              </a:r>
            </a:p>
            <a:p>
              <a:pPr algn="ctr"/>
              <a:r>
                <a:rPr lang="en-IN" sz="1600" dirty="0">
                  <a:latin typeface="Times New Roman" panose="02020603050405020304" pitchFamily="18" charset="0"/>
                  <a:cs typeface="Times New Roman" panose="02020603050405020304" pitchFamily="18" charset="0"/>
                </a:rPr>
                <a:t>Dataset</a:t>
              </a:r>
            </a:p>
          </p:txBody>
        </p:sp>
        <p:sp>
          <p:nvSpPr>
            <p:cNvPr id="9" name="Rectangle 8">
              <a:extLst>
                <a:ext uri="{FF2B5EF4-FFF2-40B4-BE49-F238E27FC236}">
                  <a16:creationId xmlns:a16="http://schemas.microsoft.com/office/drawing/2014/main" id="{C6ACB2A5-D8CF-D10C-6D49-CF1FFCD954AE}"/>
                </a:ext>
              </a:extLst>
            </p:cNvPr>
            <p:cNvSpPr/>
            <p:nvPr/>
          </p:nvSpPr>
          <p:spPr>
            <a:xfrm>
              <a:off x="2281084" y="500224"/>
              <a:ext cx="1406014" cy="129783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Preprocessing</a:t>
              </a:r>
              <a:r>
                <a:rPr lang="en-IN" dirty="0"/>
                <a:t> </a:t>
              </a:r>
            </a:p>
          </p:txBody>
        </p:sp>
        <p:cxnSp>
          <p:nvCxnSpPr>
            <p:cNvPr id="11" name="Straight Arrow Connector 10">
              <a:extLst>
                <a:ext uri="{FF2B5EF4-FFF2-40B4-BE49-F238E27FC236}">
                  <a16:creationId xmlns:a16="http://schemas.microsoft.com/office/drawing/2014/main" id="{41FBC0A6-CDEF-DA1E-5A2F-E8AE2FC8738B}"/>
                </a:ext>
              </a:extLst>
            </p:cNvPr>
            <p:cNvCxnSpPr>
              <a:stCxn id="9" idx="3"/>
            </p:cNvCxnSpPr>
            <p:nvPr/>
          </p:nvCxnSpPr>
          <p:spPr>
            <a:xfrm>
              <a:off x="3687098" y="1149142"/>
              <a:ext cx="49161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Rectangle 11">
              <a:extLst>
                <a:ext uri="{FF2B5EF4-FFF2-40B4-BE49-F238E27FC236}">
                  <a16:creationId xmlns:a16="http://schemas.microsoft.com/office/drawing/2014/main" id="{604889A1-02DF-BCA0-F626-F6ED375AD8D0}"/>
                </a:ext>
              </a:extLst>
            </p:cNvPr>
            <p:cNvSpPr/>
            <p:nvPr/>
          </p:nvSpPr>
          <p:spPr>
            <a:xfrm>
              <a:off x="4178710" y="500224"/>
              <a:ext cx="1406014" cy="129783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Select optimal window size</a:t>
              </a:r>
            </a:p>
          </p:txBody>
        </p:sp>
        <p:sp>
          <p:nvSpPr>
            <p:cNvPr id="13" name="Rectangle 12">
              <a:extLst>
                <a:ext uri="{FF2B5EF4-FFF2-40B4-BE49-F238E27FC236}">
                  <a16:creationId xmlns:a16="http://schemas.microsoft.com/office/drawing/2014/main" id="{5930BB4B-21B5-629E-5D48-4465DAB81A51}"/>
                </a:ext>
              </a:extLst>
            </p:cNvPr>
            <p:cNvSpPr/>
            <p:nvPr/>
          </p:nvSpPr>
          <p:spPr>
            <a:xfrm>
              <a:off x="6076336" y="500225"/>
              <a:ext cx="1406014" cy="129783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Apply</a:t>
              </a:r>
            </a:p>
            <a:p>
              <a:pPr algn="ctr"/>
              <a:r>
                <a:rPr lang="en-IN" sz="1600" dirty="0">
                  <a:latin typeface="Times New Roman" panose="02020603050405020304" pitchFamily="18" charset="0"/>
                  <a:cs typeface="Times New Roman" panose="02020603050405020304" pitchFamily="18" charset="0"/>
                </a:rPr>
                <a:t>Chunking</a:t>
              </a:r>
            </a:p>
            <a:p>
              <a:pPr algn="ctr"/>
              <a:r>
                <a:rPr lang="en-IN" sz="1600" dirty="0">
                  <a:latin typeface="Times New Roman" panose="02020603050405020304" pitchFamily="18" charset="0"/>
                  <a:cs typeface="Times New Roman" panose="02020603050405020304" pitchFamily="18" charset="0"/>
                </a:rPr>
                <a:t>With optimal window size </a:t>
              </a:r>
            </a:p>
          </p:txBody>
        </p:sp>
        <p:sp>
          <p:nvSpPr>
            <p:cNvPr id="26" name="Rectangle 25">
              <a:extLst>
                <a:ext uri="{FF2B5EF4-FFF2-40B4-BE49-F238E27FC236}">
                  <a16:creationId xmlns:a16="http://schemas.microsoft.com/office/drawing/2014/main" id="{E42219CC-8221-EA41-905A-092D719D4DD0}"/>
                </a:ext>
              </a:extLst>
            </p:cNvPr>
            <p:cNvSpPr/>
            <p:nvPr/>
          </p:nvSpPr>
          <p:spPr>
            <a:xfrm>
              <a:off x="4689987" y="2140984"/>
              <a:ext cx="1268361" cy="305988"/>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1200" dirty="0">
                  <a:solidFill>
                    <a:schemeClr val="tx1"/>
                  </a:solidFill>
                  <a:latin typeface="Times New Roman" panose="02020603050405020304" pitchFamily="18" charset="0"/>
                  <a:cs typeface="Times New Roman" panose="02020603050405020304" pitchFamily="18" charset="0"/>
                </a:rPr>
                <a:t>Chunk-1</a:t>
              </a:r>
            </a:p>
          </p:txBody>
        </p:sp>
        <p:sp>
          <p:nvSpPr>
            <p:cNvPr id="27" name="Rectangle 26">
              <a:extLst>
                <a:ext uri="{FF2B5EF4-FFF2-40B4-BE49-F238E27FC236}">
                  <a16:creationId xmlns:a16="http://schemas.microsoft.com/office/drawing/2014/main" id="{1FD81248-5609-318A-9445-9F42F0F9B996}"/>
                </a:ext>
              </a:extLst>
            </p:cNvPr>
            <p:cNvSpPr/>
            <p:nvPr/>
          </p:nvSpPr>
          <p:spPr>
            <a:xfrm>
              <a:off x="6096000" y="2140984"/>
              <a:ext cx="1268361" cy="305988"/>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1200" dirty="0">
                  <a:solidFill>
                    <a:schemeClr val="tx1"/>
                  </a:solidFill>
                  <a:latin typeface="Times New Roman" panose="02020603050405020304" pitchFamily="18" charset="0"/>
                  <a:cs typeface="Times New Roman" panose="02020603050405020304" pitchFamily="18" charset="0"/>
                </a:rPr>
                <a:t>Chunk-2</a:t>
              </a:r>
            </a:p>
          </p:txBody>
        </p:sp>
        <p:sp>
          <p:nvSpPr>
            <p:cNvPr id="28" name="Rectangle 27">
              <a:extLst>
                <a:ext uri="{FF2B5EF4-FFF2-40B4-BE49-F238E27FC236}">
                  <a16:creationId xmlns:a16="http://schemas.microsoft.com/office/drawing/2014/main" id="{DA405150-1137-1FAC-2DBD-5CCD6A9A1BC8}"/>
                </a:ext>
              </a:extLst>
            </p:cNvPr>
            <p:cNvSpPr/>
            <p:nvPr/>
          </p:nvSpPr>
          <p:spPr>
            <a:xfrm>
              <a:off x="7502013" y="2140984"/>
              <a:ext cx="1268361" cy="305988"/>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1200" dirty="0">
                  <a:solidFill>
                    <a:schemeClr val="tx1"/>
                  </a:solidFill>
                  <a:latin typeface="Times New Roman" panose="02020603050405020304" pitchFamily="18" charset="0"/>
                  <a:cs typeface="Times New Roman" panose="02020603050405020304" pitchFamily="18" charset="0"/>
                </a:rPr>
                <a:t>Chunk -N</a:t>
              </a:r>
            </a:p>
          </p:txBody>
        </p:sp>
        <p:sp>
          <p:nvSpPr>
            <p:cNvPr id="38" name="Rectangle 37">
              <a:extLst>
                <a:ext uri="{FF2B5EF4-FFF2-40B4-BE49-F238E27FC236}">
                  <a16:creationId xmlns:a16="http://schemas.microsoft.com/office/drawing/2014/main" id="{43771AA0-6ED4-FE60-BD6F-5065F9F387A0}"/>
                </a:ext>
              </a:extLst>
            </p:cNvPr>
            <p:cNvSpPr/>
            <p:nvPr/>
          </p:nvSpPr>
          <p:spPr>
            <a:xfrm>
              <a:off x="6095999" y="2770234"/>
              <a:ext cx="1406014" cy="138017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1400" dirty="0">
                  <a:latin typeface="Times New Roman" panose="02020603050405020304" pitchFamily="18" charset="0"/>
                  <a:cs typeface="Times New Roman" panose="02020603050405020304" pitchFamily="18" charset="0"/>
                </a:rPr>
                <a:t>Embedding</a:t>
              </a:r>
            </a:p>
          </p:txBody>
        </p:sp>
        <p:cxnSp>
          <p:nvCxnSpPr>
            <p:cNvPr id="54" name="Straight Arrow Connector 53">
              <a:extLst>
                <a:ext uri="{FF2B5EF4-FFF2-40B4-BE49-F238E27FC236}">
                  <a16:creationId xmlns:a16="http://schemas.microsoft.com/office/drawing/2014/main" id="{556882C2-FE56-03EA-7981-D6739BFAF88B}"/>
                </a:ext>
              </a:extLst>
            </p:cNvPr>
            <p:cNvCxnSpPr/>
            <p:nvPr/>
          </p:nvCxnSpPr>
          <p:spPr>
            <a:xfrm>
              <a:off x="5584723" y="1149140"/>
              <a:ext cx="49161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F4E58D5E-3F5B-4097-F6E4-EDA564416B00}"/>
                </a:ext>
              </a:extLst>
            </p:cNvPr>
            <p:cNvCxnSpPr>
              <a:stCxn id="13" idx="2"/>
            </p:cNvCxnSpPr>
            <p:nvPr/>
          </p:nvCxnSpPr>
          <p:spPr>
            <a:xfrm flipH="1">
              <a:off x="6779342" y="1798058"/>
              <a:ext cx="1" cy="25688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3" name="Straight Arrow Connector 62">
              <a:extLst>
                <a:ext uri="{FF2B5EF4-FFF2-40B4-BE49-F238E27FC236}">
                  <a16:creationId xmlns:a16="http://schemas.microsoft.com/office/drawing/2014/main" id="{F9B9E7B0-DF8C-2670-8619-6210CD5B9C47}"/>
                </a:ext>
              </a:extLst>
            </p:cNvPr>
            <p:cNvCxnSpPr/>
            <p:nvPr/>
          </p:nvCxnSpPr>
          <p:spPr>
            <a:xfrm flipH="1">
              <a:off x="6803921" y="2442069"/>
              <a:ext cx="1" cy="25688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5" name="Connector: Curved 64">
              <a:extLst>
                <a:ext uri="{FF2B5EF4-FFF2-40B4-BE49-F238E27FC236}">
                  <a16:creationId xmlns:a16="http://schemas.microsoft.com/office/drawing/2014/main" id="{CCCF7D62-0EAE-9F5D-5545-5E855007BA0A}"/>
                </a:ext>
              </a:extLst>
            </p:cNvPr>
            <p:cNvCxnSpPr>
              <a:cxnSpLocks/>
              <a:stCxn id="26" idx="2"/>
              <a:endCxn id="38" idx="0"/>
            </p:cNvCxnSpPr>
            <p:nvPr/>
          </p:nvCxnSpPr>
          <p:spPr>
            <a:xfrm rot="16200000" flipH="1">
              <a:off x="5899956" y="1871184"/>
              <a:ext cx="323262" cy="1474838"/>
            </a:xfrm>
            <a:prstGeom prst="curvedConnector3">
              <a:avLst/>
            </a:prstGeom>
            <a:ln>
              <a:tailEnd type="triangle"/>
            </a:ln>
          </p:spPr>
          <p:style>
            <a:lnRef idx="2">
              <a:schemeClr val="dk1"/>
            </a:lnRef>
            <a:fillRef idx="0">
              <a:schemeClr val="dk1"/>
            </a:fillRef>
            <a:effectRef idx="1">
              <a:schemeClr val="dk1"/>
            </a:effectRef>
            <a:fontRef idx="minor">
              <a:schemeClr val="tx1"/>
            </a:fontRef>
          </p:style>
        </p:cxnSp>
        <p:cxnSp>
          <p:nvCxnSpPr>
            <p:cNvPr id="68" name="Connector: Curved 67">
              <a:extLst>
                <a:ext uri="{FF2B5EF4-FFF2-40B4-BE49-F238E27FC236}">
                  <a16:creationId xmlns:a16="http://schemas.microsoft.com/office/drawing/2014/main" id="{55FFDA9C-6F8F-FEAA-17CA-6E0FF25758C1}"/>
                </a:ext>
              </a:extLst>
            </p:cNvPr>
            <p:cNvCxnSpPr>
              <a:stCxn id="28" idx="2"/>
              <a:endCxn id="38" idx="0"/>
            </p:cNvCxnSpPr>
            <p:nvPr/>
          </p:nvCxnSpPr>
          <p:spPr>
            <a:xfrm rot="5400000">
              <a:off x="7305969" y="1940009"/>
              <a:ext cx="323262" cy="1337188"/>
            </a:xfrm>
            <a:prstGeom prst="curvedConnector3">
              <a:avLst/>
            </a:prstGeom>
            <a:ln>
              <a:tailEnd type="triangle"/>
            </a:ln>
          </p:spPr>
          <p:style>
            <a:lnRef idx="2">
              <a:schemeClr val="dk1"/>
            </a:lnRef>
            <a:fillRef idx="0">
              <a:schemeClr val="dk1"/>
            </a:fillRef>
            <a:effectRef idx="1">
              <a:schemeClr val="dk1"/>
            </a:effectRef>
            <a:fontRef idx="minor">
              <a:schemeClr val="tx1"/>
            </a:fontRef>
          </p:style>
        </p:cxnSp>
        <p:sp>
          <p:nvSpPr>
            <p:cNvPr id="69" name="Oval 68">
              <a:extLst>
                <a:ext uri="{FF2B5EF4-FFF2-40B4-BE49-F238E27FC236}">
                  <a16:creationId xmlns:a16="http://schemas.microsoft.com/office/drawing/2014/main" id="{58FA692F-8CE2-7B40-F0E0-EDD592431519}"/>
                </a:ext>
              </a:extLst>
            </p:cNvPr>
            <p:cNvSpPr/>
            <p:nvPr/>
          </p:nvSpPr>
          <p:spPr>
            <a:xfrm>
              <a:off x="8976851" y="2293978"/>
              <a:ext cx="2045110" cy="1976284"/>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dirty="0"/>
                <a:t>Vector DB</a:t>
              </a:r>
            </a:p>
          </p:txBody>
        </p:sp>
        <p:cxnSp>
          <p:nvCxnSpPr>
            <p:cNvPr id="71" name="Straight Arrow Connector 70">
              <a:extLst>
                <a:ext uri="{FF2B5EF4-FFF2-40B4-BE49-F238E27FC236}">
                  <a16:creationId xmlns:a16="http://schemas.microsoft.com/office/drawing/2014/main" id="{2E30CF6B-53CB-0D0C-C13A-80FF36E4D5E6}"/>
                </a:ext>
              </a:extLst>
            </p:cNvPr>
            <p:cNvCxnSpPr>
              <a:stCxn id="38" idx="3"/>
            </p:cNvCxnSpPr>
            <p:nvPr/>
          </p:nvCxnSpPr>
          <p:spPr>
            <a:xfrm>
              <a:off x="7502013" y="3460320"/>
              <a:ext cx="147483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2" name="Rectangle 71">
              <a:extLst>
                <a:ext uri="{FF2B5EF4-FFF2-40B4-BE49-F238E27FC236}">
                  <a16:creationId xmlns:a16="http://schemas.microsoft.com/office/drawing/2014/main" id="{12F9A036-B224-6A4B-7B0D-B224B51F7247}"/>
                </a:ext>
              </a:extLst>
            </p:cNvPr>
            <p:cNvSpPr/>
            <p:nvPr/>
          </p:nvSpPr>
          <p:spPr>
            <a:xfrm>
              <a:off x="8681883" y="5076507"/>
              <a:ext cx="2821858" cy="998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Query + Relevant Document</a:t>
              </a:r>
            </a:p>
          </p:txBody>
        </p:sp>
        <p:sp>
          <p:nvSpPr>
            <p:cNvPr id="73" name="Rectangle 72">
              <a:extLst>
                <a:ext uri="{FF2B5EF4-FFF2-40B4-BE49-F238E27FC236}">
                  <a16:creationId xmlns:a16="http://schemas.microsoft.com/office/drawing/2014/main" id="{FD8670E7-91B1-95AE-CB1D-19CDE4BDAF6E}"/>
                </a:ext>
              </a:extLst>
            </p:cNvPr>
            <p:cNvSpPr/>
            <p:nvPr/>
          </p:nvSpPr>
          <p:spPr>
            <a:xfrm>
              <a:off x="353961" y="2792363"/>
              <a:ext cx="1474840" cy="1380171"/>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User Query</a:t>
              </a:r>
            </a:p>
          </p:txBody>
        </p:sp>
        <p:cxnSp>
          <p:nvCxnSpPr>
            <p:cNvPr id="75" name="Connector: Elbow 74">
              <a:extLst>
                <a:ext uri="{FF2B5EF4-FFF2-40B4-BE49-F238E27FC236}">
                  <a16:creationId xmlns:a16="http://schemas.microsoft.com/office/drawing/2014/main" id="{6FA47ADF-8015-B391-6C01-DDBD18E6BADA}"/>
                </a:ext>
              </a:extLst>
            </p:cNvPr>
            <p:cNvCxnSpPr>
              <a:stCxn id="73" idx="3"/>
              <a:endCxn id="9" idx="2"/>
            </p:cNvCxnSpPr>
            <p:nvPr/>
          </p:nvCxnSpPr>
          <p:spPr>
            <a:xfrm flipV="1">
              <a:off x="1828801" y="1798060"/>
              <a:ext cx="1155290" cy="1684389"/>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77" name="Connector: Elbow 76">
              <a:extLst>
                <a:ext uri="{FF2B5EF4-FFF2-40B4-BE49-F238E27FC236}">
                  <a16:creationId xmlns:a16="http://schemas.microsoft.com/office/drawing/2014/main" id="{B058C06E-5603-18AC-C600-1A088265F624}"/>
                </a:ext>
              </a:extLst>
            </p:cNvPr>
            <p:cNvCxnSpPr>
              <a:endCxn id="38" idx="1"/>
            </p:cNvCxnSpPr>
            <p:nvPr/>
          </p:nvCxnSpPr>
          <p:spPr>
            <a:xfrm>
              <a:off x="3254477" y="1798057"/>
              <a:ext cx="2841522" cy="1662263"/>
            </a:xfrm>
            <a:prstGeom prst="bentConnector3">
              <a:avLst>
                <a:gd name="adj1" fmla="val 2249"/>
              </a:avLst>
            </a:prstGeom>
            <a:ln>
              <a:tailEnd type="triangle"/>
            </a:ln>
          </p:spPr>
          <p:style>
            <a:lnRef idx="1">
              <a:schemeClr val="dk1"/>
            </a:lnRef>
            <a:fillRef idx="0">
              <a:schemeClr val="dk1"/>
            </a:fillRef>
            <a:effectRef idx="0">
              <a:schemeClr val="dk1"/>
            </a:effectRef>
            <a:fontRef idx="minor">
              <a:schemeClr val="tx1"/>
            </a:fontRef>
          </p:style>
        </p:cxnSp>
        <p:cxnSp>
          <p:nvCxnSpPr>
            <p:cNvPr id="80" name="Connector: Curved 79">
              <a:extLst>
                <a:ext uri="{FF2B5EF4-FFF2-40B4-BE49-F238E27FC236}">
                  <a16:creationId xmlns:a16="http://schemas.microsoft.com/office/drawing/2014/main" id="{1E9A3CD6-0875-2910-5E7B-B3BD166666B9}"/>
                </a:ext>
              </a:extLst>
            </p:cNvPr>
            <p:cNvCxnSpPr>
              <a:stCxn id="38" idx="2"/>
              <a:endCxn id="69" idx="4"/>
            </p:cNvCxnSpPr>
            <p:nvPr/>
          </p:nvCxnSpPr>
          <p:spPr>
            <a:xfrm rot="16200000" flipH="1">
              <a:off x="8339278" y="2610134"/>
              <a:ext cx="119856" cy="3200400"/>
            </a:xfrm>
            <a:prstGeom prst="curvedConnector3">
              <a:avLst>
                <a:gd name="adj1" fmla="val 454797"/>
              </a:avLst>
            </a:prstGeom>
            <a:ln>
              <a:tailEnd type="triangle"/>
            </a:ln>
          </p:spPr>
          <p:style>
            <a:lnRef idx="2">
              <a:schemeClr val="dk1"/>
            </a:lnRef>
            <a:fillRef idx="0">
              <a:schemeClr val="dk1"/>
            </a:fillRef>
            <a:effectRef idx="1">
              <a:schemeClr val="dk1"/>
            </a:effectRef>
            <a:fontRef idx="minor">
              <a:schemeClr val="tx1"/>
            </a:fontRef>
          </p:style>
        </p:cxnSp>
        <p:cxnSp>
          <p:nvCxnSpPr>
            <p:cNvPr id="86" name="Straight Arrow Connector 85">
              <a:extLst>
                <a:ext uri="{FF2B5EF4-FFF2-40B4-BE49-F238E27FC236}">
                  <a16:creationId xmlns:a16="http://schemas.microsoft.com/office/drawing/2014/main" id="{87C622F9-99A1-4E84-D1F7-82C5C5149077}"/>
                </a:ext>
              </a:extLst>
            </p:cNvPr>
            <p:cNvCxnSpPr/>
            <p:nvPr/>
          </p:nvCxnSpPr>
          <p:spPr>
            <a:xfrm>
              <a:off x="10092812" y="4270262"/>
              <a:ext cx="14749" cy="80624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87" name="Rectangle: Rounded Corners 86">
              <a:extLst>
                <a:ext uri="{FF2B5EF4-FFF2-40B4-BE49-F238E27FC236}">
                  <a16:creationId xmlns:a16="http://schemas.microsoft.com/office/drawing/2014/main" id="{4463A2FE-4444-3F41-03F4-159ACEF05954}"/>
                </a:ext>
              </a:extLst>
            </p:cNvPr>
            <p:cNvSpPr/>
            <p:nvPr/>
          </p:nvSpPr>
          <p:spPr>
            <a:xfrm>
              <a:off x="5417575" y="5076507"/>
              <a:ext cx="2443316" cy="1050182"/>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IN" dirty="0"/>
                <a:t>LLM </a:t>
              </a:r>
            </a:p>
          </p:txBody>
        </p:sp>
        <p:cxnSp>
          <p:nvCxnSpPr>
            <p:cNvPr id="89" name="Straight Arrow Connector 88">
              <a:extLst>
                <a:ext uri="{FF2B5EF4-FFF2-40B4-BE49-F238E27FC236}">
                  <a16:creationId xmlns:a16="http://schemas.microsoft.com/office/drawing/2014/main" id="{40CEEB3B-30FA-2DDB-5077-03B75143CB6F}"/>
                </a:ext>
              </a:extLst>
            </p:cNvPr>
            <p:cNvCxnSpPr>
              <a:cxnSpLocks/>
            </p:cNvCxnSpPr>
            <p:nvPr/>
          </p:nvCxnSpPr>
          <p:spPr>
            <a:xfrm flipH="1" flipV="1">
              <a:off x="7905135" y="5577952"/>
              <a:ext cx="77674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91" name="Rectangle 90">
              <a:extLst>
                <a:ext uri="{FF2B5EF4-FFF2-40B4-BE49-F238E27FC236}">
                  <a16:creationId xmlns:a16="http://schemas.microsoft.com/office/drawing/2014/main" id="{E9F577DA-B4E7-BA23-DCE1-2F188CBB18E8}"/>
                </a:ext>
              </a:extLst>
            </p:cNvPr>
            <p:cNvSpPr/>
            <p:nvPr/>
          </p:nvSpPr>
          <p:spPr>
            <a:xfrm>
              <a:off x="2600636" y="5024325"/>
              <a:ext cx="1995947" cy="1050182"/>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Response</a:t>
              </a:r>
            </a:p>
          </p:txBody>
        </p:sp>
        <p:cxnSp>
          <p:nvCxnSpPr>
            <p:cNvPr id="92" name="Straight Arrow Connector 91">
              <a:extLst>
                <a:ext uri="{FF2B5EF4-FFF2-40B4-BE49-F238E27FC236}">
                  <a16:creationId xmlns:a16="http://schemas.microsoft.com/office/drawing/2014/main" id="{01E02473-8ECE-1525-72A1-2840A2AB1DCC}"/>
                </a:ext>
              </a:extLst>
            </p:cNvPr>
            <p:cNvCxnSpPr>
              <a:cxnSpLocks/>
            </p:cNvCxnSpPr>
            <p:nvPr/>
          </p:nvCxnSpPr>
          <p:spPr>
            <a:xfrm flipH="1" flipV="1">
              <a:off x="4640827" y="5601598"/>
              <a:ext cx="77674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4" name="Connector: Elbow 93">
              <a:extLst>
                <a:ext uri="{FF2B5EF4-FFF2-40B4-BE49-F238E27FC236}">
                  <a16:creationId xmlns:a16="http://schemas.microsoft.com/office/drawing/2014/main" id="{7D96D03A-DBF0-79CB-423A-55A3336B755B}"/>
                </a:ext>
              </a:extLst>
            </p:cNvPr>
            <p:cNvCxnSpPr>
              <a:stCxn id="91" idx="1"/>
              <a:endCxn id="73" idx="2"/>
            </p:cNvCxnSpPr>
            <p:nvPr/>
          </p:nvCxnSpPr>
          <p:spPr>
            <a:xfrm rot="10800000">
              <a:off x="1091382" y="4172534"/>
              <a:ext cx="1509255" cy="1376882"/>
            </a:xfrm>
            <a:prstGeom prst="bentConnector2">
              <a:avLst/>
            </a:prstGeom>
            <a:ln>
              <a:tailEnd type="triangle"/>
            </a:ln>
          </p:spPr>
          <p:style>
            <a:lnRef idx="2">
              <a:schemeClr val="dk1"/>
            </a:lnRef>
            <a:fillRef idx="0">
              <a:schemeClr val="dk1"/>
            </a:fillRef>
            <a:effectRef idx="1">
              <a:schemeClr val="dk1"/>
            </a:effectRef>
            <a:fontRef idx="minor">
              <a:schemeClr val="tx1"/>
            </a:fontRef>
          </p:style>
        </p:cxnSp>
        <p:sp>
          <p:nvSpPr>
            <p:cNvPr id="95" name="Oval 94">
              <a:extLst>
                <a:ext uri="{FF2B5EF4-FFF2-40B4-BE49-F238E27FC236}">
                  <a16:creationId xmlns:a16="http://schemas.microsoft.com/office/drawing/2014/main" id="{D38868D6-954C-8C8E-408C-03DFF3E72681}"/>
                </a:ext>
              </a:extLst>
            </p:cNvPr>
            <p:cNvSpPr/>
            <p:nvPr/>
          </p:nvSpPr>
          <p:spPr>
            <a:xfrm>
              <a:off x="1852153" y="1193062"/>
              <a:ext cx="336751" cy="346276"/>
            </a:xfrm>
            <a:prstGeom prst="ellipse">
              <a:avLst/>
            </a:prstGeom>
            <a:solidFill>
              <a:schemeClr val="bg1"/>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1200" b="1" dirty="0">
                  <a:solidFill>
                    <a:srgbClr val="FF0000"/>
                  </a:solidFill>
                  <a:latin typeface="Times New Roman" panose="02020603050405020304" pitchFamily="18" charset="0"/>
                  <a:cs typeface="Times New Roman" panose="02020603050405020304" pitchFamily="18" charset="0"/>
                </a:rPr>
                <a:t>1</a:t>
              </a:r>
            </a:p>
          </p:txBody>
        </p:sp>
        <p:sp>
          <p:nvSpPr>
            <p:cNvPr id="96" name="Oval 95">
              <a:extLst>
                <a:ext uri="{FF2B5EF4-FFF2-40B4-BE49-F238E27FC236}">
                  <a16:creationId xmlns:a16="http://schemas.microsoft.com/office/drawing/2014/main" id="{5050B84E-62C6-F51E-9827-0CFDF5C3DBFA}"/>
                </a:ext>
              </a:extLst>
            </p:cNvPr>
            <p:cNvSpPr/>
            <p:nvPr/>
          </p:nvSpPr>
          <p:spPr>
            <a:xfrm>
              <a:off x="3764528" y="1193062"/>
              <a:ext cx="336751" cy="346276"/>
            </a:xfrm>
            <a:prstGeom prst="ellipse">
              <a:avLst/>
            </a:prstGeom>
            <a:solidFill>
              <a:schemeClr val="bg1"/>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1200" b="1" dirty="0">
                  <a:solidFill>
                    <a:srgbClr val="FF0000"/>
                  </a:solidFill>
                  <a:latin typeface="Times New Roman" panose="02020603050405020304" pitchFamily="18" charset="0"/>
                  <a:cs typeface="Times New Roman" panose="02020603050405020304" pitchFamily="18" charset="0"/>
                </a:rPr>
                <a:t>2</a:t>
              </a:r>
            </a:p>
          </p:txBody>
        </p:sp>
        <p:sp>
          <p:nvSpPr>
            <p:cNvPr id="97" name="Oval 96">
              <a:extLst>
                <a:ext uri="{FF2B5EF4-FFF2-40B4-BE49-F238E27FC236}">
                  <a16:creationId xmlns:a16="http://schemas.microsoft.com/office/drawing/2014/main" id="{AF4BD563-1834-0A58-03EE-766C239AC0F9}"/>
                </a:ext>
              </a:extLst>
            </p:cNvPr>
            <p:cNvSpPr/>
            <p:nvPr/>
          </p:nvSpPr>
          <p:spPr>
            <a:xfrm>
              <a:off x="5662154" y="1193062"/>
              <a:ext cx="336751" cy="346276"/>
            </a:xfrm>
            <a:prstGeom prst="ellipse">
              <a:avLst/>
            </a:prstGeom>
            <a:solidFill>
              <a:schemeClr val="bg1"/>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1200" b="1" dirty="0">
                  <a:solidFill>
                    <a:srgbClr val="FF0000"/>
                  </a:solidFill>
                  <a:latin typeface="Times New Roman" panose="02020603050405020304" pitchFamily="18" charset="0"/>
                  <a:cs typeface="Times New Roman" panose="02020603050405020304" pitchFamily="18" charset="0"/>
                </a:rPr>
                <a:t>3</a:t>
              </a:r>
            </a:p>
          </p:txBody>
        </p:sp>
        <p:sp>
          <p:nvSpPr>
            <p:cNvPr id="98" name="Oval 97">
              <a:extLst>
                <a:ext uri="{FF2B5EF4-FFF2-40B4-BE49-F238E27FC236}">
                  <a16:creationId xmlns:a16="http://schemas.microsoft.com/office/drawing/2014/main" id="{C0DD1956-4A77-5D4B-E6BF-F20C90F2904D}"/>
                </a:ext>
              </a:extLst>
            </p:cNvPr>
            <p:cNvSpPr/>
            <p:nvPr/>
          </p:nvSpPr>
          <p:spPr>
            <a:xfrm>
              <a:off x="7009171" y="1796383"/>
              <a:ext cx="336751" cy="346276"/>
            </a:xfrm>
            <a:prstGeom prst="ellipse">
              <a:avLst/>
            </a:prstGeom>
            <a:solidFill>
              <a:schemeClr val="bg1"/>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1200" b="1" dirty="0">
                  <a:solidFill>
                    <a:srgbClr val="FF0000"/>
                  </a:solidFill>
                  <a:latin typeface="Times New Roman" panose="02020603050405020304" pitchFamily="18" charset="0"/>
                  <a:cs typeface="Times New Roman" panose="02020603050405020304" pitchFamily="18" charset="0"/>
                </a:rPr>
                <a:t>4</a:t>
              </a:r>
            </a:p>
          </p:txBody>
        </p:sp>
        <p:sp>
          <p:nvSpPr>
            <p:cNvPr id="99" name="Oval 98">
              <a:extLst>
                <a:ext uri="{FF2B5EF4-FFF2-40B4-BE49-F238E27FC236}">
                  <a16:creationId xmlns:a16="http://schemas.microsoft.com/office/drawing/2014/main" id="{B4C33587-F29C-7463-8E4E-A14AF0585059}"/>
                </a:ext>
              </a:extLst>
            </p:cNvPr>
            <p:cNvSpPr/>
            <p:nvPr/>
          </p:nvSpPr>
          <p:spPr>
            <a:xfrm>
              <a:off x="7663022" y="2637512"/>
              <a:ext cx="336751" cy="346276"/>
            </a:xfrm>
            <a:prstGeom prst="ellipse">
              <a:avLst/>
            </a:prstGeom>
            <a:solidFill>
              <a:schemeClr val="bg1"/>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1200" b="1" dirty="0">
                  <a:solidFill>
                    <a:srgbClr val="FF0000"/>
                  </a:solidFill>
                  <a:latin typeface="Times New Roman" panose="02020603050405020304" pitchFamily="18" charset="0"/>
                  <a:cs typeface="Times New Roman" panose="02020603050405020304" pitchFamily="18" charset="0"/>
                </a:rPr>
                <a:t>5</a:t>
              </a:r>
            </a:p>
          </p:txBody>
        </p:sp>
        <p:sp>
          <p:nvSpPr>
            <p:cNvPr id="100" name="Oval 99">
              <a:extLst>
                <a:ext uri="{FF2B5EF4-FFF2-40B4-BE49-F238E27FC236}">
                  <a16:creationId xmlns:a16="http://schemas.microsoft.com/office/drawing/2014/main" id="{71EA30A1-4A33-B45D-C45C-1D6EAB7821E8}"/>
                </a:ext>
              </a:extLst>
            </p:cNvPr>
            <p:cNvSpPr/>
            <p:nvPr/>
          </p:nvSpPr>
          <p:spPr>
            <a:xfrm>
              <a:off x="8200102" y="3531608"/>
              <a:ext cx="336751" cy="346276"/>
            </a:xfrm>
            <a:prstGeom prst="ellipse">
              <a:avLst/>
            </a:prstGeom>
            <a:solidFill>
              <a:schemeClr val="bg1"/>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1200" b="1" dirty="0">
                  <a:solidFill>
                    <a:srgbClr val="FF0000"/>
                  </a:solidFill>
                  <a:latin typeface="Times New Roman" panose="02020603050405020304" pitchFamily="18" charset="0"/>
                  <a:cs typeface="Times New Roman" panose="02020603050405020304" pitchFamily="18" charset="0"/>
                </a:rPr>
                <a:t>6</a:t>
              </a:r>
            </a:p>
          </p:txBody>
        </p:sp>
        <p:sp>
          <p:nvSpPr>
            <p:cNvPr id="101" name="Oval 100">
              <a:extLst>
                <a:ext uri="{FF2B5EF4-FFF2-40B4-BE49-F238E27FC236}">
                  <a16:creationId xmlns:a16="http://schemas.microsoft.com/office/drawing/2014/main" id="{BCE0EFD9-31E2-13EA-9DB0-A23E44C0A272}"/>
                </a:ext>
              </a:extLst>
            </p:cNvPr>
            <p:cNvSpPr/>
            <p:nvPr/>
          </p:nvSpPr>
          <p:spPr>
            <a:xfrm>
              <a:off x="1965228" y="3568033"/>
              <a:ext cx="336751" cy="346276"/>
            </a:xfrm>
            <a:prstGeom prst="ellipse">
              <a:avLst/>
            </a:prstGeom>
            <a:solidFill>
              <a:schemeClr val="bg1"/>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1200" b="1" dirty="0">
                  <a:solidFill>
                    <a:srgbClr val="FF0000"/>
                  </a:solidFill>
                  <a:latin typeface="Times New Roman" panose="02020603050405020304" pitchFamily="18" charset="0"/>
                  <a:cs typeface="Times New Roman" panose="02020603050405020304" pitchFamily="18" charset="0"/>
                </a:rPr>
                <a:t>7</a:t>
              </a:r>
            </a:p>
          </p:txBody>
        </p:sp>
        <p:sp>
          <p:nvSpPr>
            <p:cNvPr id="102" name="Oval 101">
              <a:extLst>
                <a:ext uri="{FF2B5EF4-FFF2-40B4-BE49-F238E27FC236}">
                  <a16:creationId xmlns:a16="http://schemas.microsoft.com/office/drawing/2014/main" id="{63398898-1E3F-5F39-3F0A-6848F82A206E}"/>
                </a:ext>
              </a:extLst>
            </p:cNvPr>
            <p:cNvSpPr/>
            <p:nvPr/>
          </p:nvSpPr>
          <p:spPr>
            <a:xfrm>
              <a:off x="4479824" y="3545901"/>
              <a:ext cx="336751" cy="346276"/>
            </a:xfrm>
            <a:prstGeom prst="ellipse">
              <a:avLst/>
            </a:prstGeom>
            <a:solidFill>
              <a:schemeClr val="bg1"/>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1200" b="1" dirty="0">
                  <a:solidFill>
                    <a:srgbClr val="FF0000"/>
                  </a:solidFill>
                  <a:latin typeface="Times New Roman" panose="02020603050405020304" pitchFamily="18" charset="0"/>
                  <a:cs typeface="Times New Roman" panose="02020603050405020304" pitchFamily="18" charset="0"/>
                </a:rPr>
                <a:t>8</a:t>
              </a:r>
            </a:p>
          </p:txBody>
        </p:sp>
        <p:sp>
          <p:nvSpPr>
            <p:cNvPr id="103" name="Oval 102">
              <a:extLst>
                <a:ext uri="{FF2B5EF4-FFF2-40B4-BE49-F238E27FC236}">
                  <a16:creationId xmlns:a16="http://schemas.microsoft.com/office/drawing/2014/main" id="{4A32BCA6-718D-4162-B8BB-C68F99049EA6}"/>
                </a:ext>
              </a:extLst>
            </p:cNvPr>
            <p:cNvSpPr/>
            <p:nvPr/>
          </p:nvSpPr>
          <p:spPr>
            <a:xfrm>
              <a:off x="8230830" y="4280387"/>
              <a:ext cx="336751" cy="346276"/>
            </a:xfrm>
            <a:prstGeom prst="ellipse">
              <a:avLst/>
            </a:prstGeom>
            <a:solidFill>
              <a:schemeClr val="bg1"/>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1200" b="1" dirty="0">
                  <a:solidFill>
                    <a:srgbClr val="FF0000"/>
                  </a:solidFill>
                  <a:latin typeface="Times New Roman" panose="02020603050405020304" pitchFamily="18" charset="0"/>
                  <a:cs typeface="Times New Roman" panose="02020603050405020304" pitchFamily="18" charset="0"/>
                </a:rPr>
                <a:t>9</a:t>
              </a:r>
            </a:p>
          </p:txBody>
        </p:sp>
        <p:sp>
          <p:nvSpPr>
            <p:cNvPr id="104" name="Oval 103">
              <a:extLst>
                <a:ext uri="{FF2B5EF4-FFF2-40B4-BE49-F238E27FC236}">
                  <a16:creationId xmlns:a16="http://schemas.microsoft.com/office/drawing/2014/main" id="{48BAA6A6-C99C-9C74-8A2B-45B986A76707}"/>
                </a:ext>
              </a:extLst>
            </p:cNvPr>
            <p:cNvSpPr/>
            <p:nvPr/>
          </p:nvSpPr>
          <p:spPr>
            <a:xfrm>
              <a:off x="10228009" y="4562749"/>
              <a:ext cx="527246" cy="461575"/>
            </a:xfrm>
            <a:prstGeom prst="ellipse">
              <a:avLst/>
            </a:prstGeom>
            <a:solidFill>
              <a:schemeClr val="bg1"/>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1200" b="1" dirty="0">
                  <a:solidFill>
                    <a:srgbClr val="FF0000"/>
                  </a:solidFill>
                  <a:latin typeface="Times New Roman" panose="02020603050405020304" pitchFamily="18" charset="0"/>
                  <a:cs typeface="Times New Roman" panose="02020603050405020304" pitchFamily="18" charset="0"/>
                </a:rPr>
                <a:t>10</a:t>
              </a:r>
            </a:p>
          </p:txBody>
        </p:sp>
        <p:sp>
          <p:nvSpPr>
            <p:cNvPr id="105" name="Oval 104">
              <a:extLst>
                <a:ext uri="{FF2B5EF4-FFF2-40B4-BE49-F238E27FC236}">
                  <a16:creationId xmlns:a16="http://schemas.microsoft.com/office/drawing/2014/main" id="{64C0D78C-DEDE-9500-A66B-643CC89D5E18}"/>
                </a:ext>
              </a:extLst>
            </p:cNvPr>
            <p:cNvSpPr/>
            <p:nvPr/>
          </p:nvSpPr>
          <p:spPr>
            <a:xfrm>
              <a:off x="7999773" y="5665114"/>
              <a:ext cx="527246" cy="461575"/>
            </a:xfrm>
            <a:prstGeom prst="ellipse">
              <a:avLst/>
            </a:prstGeom>
            <a:solidFill>
              <a:schemeClr val="bg1"/>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1200" b="1" dirty="0">
                  <a:solidFill>
                    <a:srgbClr val="FF0000"/>
                  </a:solidFill>
                  <a:latin typeface="Times New Roman" panose="02020603050405020304" pitchFamily="18" charset="0"/>
                  <a:cs typeface="Times New Roman" panose="02020603050405020304" pitchFamily="18" charset="0"/>
                </a:rPr>
                <a:t>11</a:t>
              </a:r>
            </a:p>
          </p:txBody>
        </p:sp>
        <p:sp>
          <p:nvSpPr>
            <p:cNvPr id="106" name="Oval 105">
              <a:extLst>
                <a:ext uri="{FF2B5EF4-FFF2-40B4-BE49-F238E27FC236}">
                  <a16:creationId xmlns:a16="http://schemas.microsoft.com/office/drawing/2014/main" id="{80C54156-DA41-6DFB-CB45-8AA878D360CC}"/>
                </a:ext>
              </a:extLst>
            </p:cNvPr>
            <p:cNvSpPr/>
            <p:nvPr/>
          </p:nvSpPr>
          <p:spPr>
            <a:xfrm>
              <a:off x="4729933" y="5665114"/>
              <a:ext cx="527246" cy="461575"/>
            </a:xfrm>
            <a:prstGeom prst="ellipse">
              <a:avLst/>
            </a:prstGeom>
            <a:solidFill>
              <a:schemeClr val="bg1"/>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1200" b="1" dirty="0">
                  <a:solidFill>
                    <a:srgbClr val="FF0000"/>
                  </a:solidFill>
                  <a:latin typeface="Times New Roman" panose="02020603050405020304" pitchFamily="18" charset="0"/>
                  <a:cs typeface="Times New Roman" panose="02020603050405020304" pitchFamily="18" charset="0"/>
                </a:rPr>
                <a:t>12</a:t>
              </a:r>
            </a:p>
          </p:txBody>
        </p:sp>
        <p:sp>
          <p:nvSpPr>
            <p:cNvPr id="3" name="TextBox 2">
              <a:extLst>
                <a:ext uri="{FF2B5EF4-FFF2-40B4-BE49-F238E27FC236}">
                  <a16:creationId xmlns:a16="http://schemas.microsoft.com/office/drawing/2014/main" id="{F5F48C44-B8DB-A451-0565-0D92BA699839}"/>
                </a:ext>
              </a:extLst>
            </p:cNvPr>
            <p:cNvSpPr txBox="1"/>
            <p:nvPr/>
          </p:nvSpPr>
          <p:spPr>
            <a:xfrm>
              <a:off x="2782529" y="6366972"/>
              <a:ext cx="6096000" cy="390684"/>
            </a:xfrm>
            <a:prstGeom prst="rect">
              <a:avLst/>
            </a:prstGeom>
            <a:noFill/>
          </p:spPr>
          <p:txBody>
            <a:bodyPr wrap="square">
              <a:spAutoFit/>
            </a:bodyPr>
            <a:lstStyle/>
            <a:p>
              <a:pPr algn="ctr">
                <a:lnSpc>
                  <a:spcPct val="115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Figure 1:</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RAG pipeline for Q &amp; A Chatbot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grpSp>
      <p:sp>
        <p:nvSpPr>
          <p:cNvPr id="5" name="Title 1">
            <a:extLst>
              <a:ext uri="{FF2B5EF4-FFF2-40B4-BE49-F238E27FC236}">
                <a16:creationId xmlns:a16="http://schemas.microsoft.com/office/drawing/2014/main" id="{B9FE8C9A-8FAB-06E3-5C78-83BC8204328B}"/>
              </a:ext>
            </a:extLst>
          </p:cNvPr>
          <p:cNvSpPr txBox="1">
            <a:spLocks/>
          </p:cNvSpPr>
          <p:nvPr/>
        </p:nvSpPr>
        <p:spPr>
          <a:xfrm>
            <a:off x="373069" y="0"/>
            <a:ext cx="4953000" cy="6858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b="1" dirty="0">
                <a:solidFill>
                  <a:srgbClr val="180EE2"/>
                </a:solidFill>
                <a:latin typeface="Times New Roman" panose="02020603050405020304" pitchFamily="18" charset="0"/>
                <a:cs typeface="Times New Roman" panose="02020603050405020304" pitchFamily="18" charset="0"/>
              </a:rPr>
              <a:t>RAG Pipeline</a:t>
            </a:r>
          </a:p>
        </p:txBody>
      </p:sp>
    </p:spTree>
    <p:extLst>
      <p:ext uri="{BB962C8B-B14F-4D97-AF65-F5344CB8AC3E}">
        <p14:creationId xmlns:p14="http://schemas.microsoft.com/office/powerpoint/2010/main" val="2938996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F27C9-CCB2-2F9F-7D12-9E9CBCD43B4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C7B1895-1933-815A-2D88-84117F262DD9}"/>
              </a:ext>
            </a:extLst>
          </p:cNvPr>
          <p:cNvSpPr>
            <a:spLocks noGrp="1"/>
          </p:cNvSpPr>
          <p:nvPr>
            <p:ph type="title"/>
          </p:nvPr>
        </p:nvSpPr>
        <p:spPr>
          <a:xfrm>
            <a:off x="253180" y="194187"/>
            <a:ext cx="6698226" cy="685800"/>
          </a:xfrm>
        </p:spPr>
        <p:txBody>
          <a:bodyPr>
            <a:noAutofit/>
          </a:bodyPr>
          <a:lstStyle/>
          <a:p>
            <a:r>
              <a:rPr lang="en-US" sz="2400" b="1" dirty="0">
                <a:solidFill>
                  <a:srgbClr val="180EE2"/>
                </a:solidFill>
                <a:latin typeface="Times New Roman" panose="02020603050405020304" pitchFamily="18" charset="0"/>
                <a:cs typeface="Times New Roman" panose="02020603050405020304" pitchFamily="18" charset="0"/>
              </a:rPr>
              <a:t>2. </a:t>
            </a:r>
            <a:r>
              <a:rPr lang="en-IN" sz="2400" b="1" dirty="0">
                <a:solidFill>
                  <a:srgbClr val="0000FF"/>
                </a:solidFill>
                <a:latin typeface="Times New Roman" panose="02020603050405020304" pitchFamily="18" charset="0"/>
                <a:cs typeface="Times New Roman" panose="02020603050405020304" pitchFamily="18" charset="0"/>
              </a:rPr>
              <a:t>Diversity-Based Chunking Algorithm Analysis</a:t>
            </a:r>
            <a:endParaRPr lang="en-US" sz="2400" b="1" dirty="0">
              <a:solidFill>
                <a:srgbClr val="0000FF"/>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99C3322-A694-F67D-84B7-C652FBC4B9DE}"/>
              </a:ext>
            </a:extLst>
          </p:cNvPr>
          <p:cNvSpPr txBox="1"/>
          <p:nvPr/>
        </p:nvSpPr>
        <p:spPr>
          <a:xfrm>
            <a:off x="253180" y="1058949"/>
            <a:ext cx="8766688" cy="307777"/>
          </a:xfrm>
          <a:prstGeom prst="rect">
            <a:avLst/>
          </a:prstGeom>
          <a:noFill/>
        </p:spPr>
        <p:txBody>
          <a:bodyPr wrap="square">
            <a:spAutoFit/>
          </a:bodyPr>
          <a:lstStyle/>
          <a:p>
            <a:r>
              <a:rPr lang="en-IN" sz="1400" dirty="0">
                <a:effectLst/>
                <a:latin typeface="Times New Roman" panose="02020603050405020304" pitchFamily="18" charset="0"/>
                <a:ea typeface="Calibri" panose="020F0502020204030204" pitchFamily="34" charset="0"/>
              </a:rPr>
              <a:t>This algorithm calculate the optimal chunk size and overlap using Diversity score.</a:t>
            </a:r>
            <a:endParaRPr lang="en-IN" sz="1400" dirty="0"/>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B253D6DD-D14C-3AA4-3BF8-E3407E92F1E5}"/>
                  </a:ext>
                </a:extLst>
              </p:cNvPr>
              <p:cNvSpPr txBox="1"/>
              <p:nvPr/>
            </p:nvSpPr>
            <p:spPr>
              <a:xfrm>
                <a:off x="404965" y="1693698"/>
                <a:ext cx="6096000" cy="4955844"/>
              </a:xfrm>
              <a:prstGeom prst="rect">
                <a:avLst/>
              </a:prstGeom>
              <a:noFill/>
            </p:spPr>
            <p:txBody>
              <a:bodyPr wrap="square">
                <a:spAutoFit/>
              </a:bodyPr>
              <a:lstStyle/>
              <a:p>
                <a:pPr marL="285750" lvl="0" indent="-285750" algn="just">
                  <a:lnSpc>
                    <a:spcPct val="115000"/>
                  </a:lnSpc>
                  <a:buFont typeface="Wingdings" panose="05000000000000000000" pitchFamily="2" charset="2"/>
                  <a:buChar char="v"/>
                </a:pPr>
                <a:r>
                  <a:rPr lang="en-IN" sz="1400" b="1" kern="100" dirty="0">
                    <a:effectLst/>
                    <a:latin typeface="Times New Roman" panose="02020603050405020304" pitchFamily="18" charset="0"/>
                    <a:ea typeface="Calibri" panose="020F0502020204030204" pitchFamily="34" charset="0"/>
                    <a:cs typeface="Times New Roman" panose="02020603050405020304" pitchFamily="18" charset="0"/>
                  </a:rPr>
                  <a:t>Calculate embedding for each chunk:</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1657350" indent="-285750" algn="just">
                  <a:lnSpc>
                    <a:spcPct val="115000"/>
                  </a:lnSpc>
                  <a:buFont typeface="Wingdings" panose="05000000000000000000" pitchFamily="2" charset="2"/>
                  <a:buChar char="v"/>
                </a:pP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1371600" algn="ctr">
                  <a:lnSpc>
                    <a:spcPct val="115000"/>
                  </a:lnSpc>
                </a:pPr>
                <a14:m>
                  <m:oMathPara xmlns:m="http://schemas.openxmlformats.org/officeDocument/2006/math">
                    <m:oMathParaPr>
                      <m:jc m:val="centerGroup"/>
                    </m:oMathParaPr>
                    <m:oMath xmlns:m="http://schemas.openxmlformats.org/officeDocument/2006/math">
                      <m:sSub>
                        <m:sSubPr>
                          <m:ctrlPr>
                            <a:rPr lang="en-IN" sz="14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𝐸</m:t>
                          </m:r>
                        </m:e>
                        <m:sub>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𝑖</m:t>
                          </m:r>
                        </m:sub>
                      </m:sSub>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m:t>
                      </m:r>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𝐸𝑚𝑏𝑒𝑑𝑑𝑖𝑛𝑔</m:t>
                      </m:r>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_</m:t>
                      </m:r>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𝑀𝑜𝑑𝑒𝑙</m:t>
                      </m:r>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14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𝐶</m:t>
                          </m:r>
                        </m:e>
                        <m:sub>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𝑖</m:t>
                          </m:r>
                        </m:sub>
                      </m:sSub>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1371600" algn="just">
                  <a:lnSpc>
                    <a:spcPct val="115000"/>
                  </a:lnSpc>
                </a:pP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IN" sz="1400" b="1" kern="100" dirty="0">
                    <a:effectLst/>
                    <a:latin typeface="Times New Roman" panose="02020603050405020304" pitchFamily="18" charset="0"/>
                    <a:ea typeface="Calibri" panose="020F0502020204030204" pitchFamily="34" charset="0"/>
                    <a:cs typeface="Times New Roman" panose="02020603050405020304" pitchFamily="18" charset="0"/>
                  </a:rPr>
                  <a:t>Calculate pair wise similarity matrix:</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1371600" algn="just">
                  <a:lnSpc>
                    <a:spcPct val="115000"/>
                  </a:lnSpc>
                </a:pP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1371600" algn="ctr">
                  <a:lnSpc>
                    <a:spcPct val="115000"/>
                  </a:lnSpc>
                </a:pPr>
                <a14:m>
                  <m:oMathPara xmlns:m="http://schemas.openxmlformats.org/officeDocument/2006/math">
                    <m:oMathParaPr>
                      <m:jc m:val="centerGroup"/>
                    </m:oMathParaPr>
                    <m:oMath xmlns:m="http://schemas.openxmlformats.org/officeDocument/2006/math">
                      <m:sSub>
                        <m:sSubPr>
                          <m:ctrlPr>
                            <a:rPr lang="en-IN" sz="14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𝑆</m:t>
                          </m:r>
                        </m:e>
                        <m:sub>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𝑖</m:t>
                          </m:r>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m:t>
                          </m:r>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𝑗</m:t>
                          </m:r>
                        </m:sub>
                      </m:sSub>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m:t>
                      </m:r>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𝐶𝑜𝑠𝑖𝑛𝑒</m:t>
                      </m:r>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_</m:t>
                      </m:r>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𝑆𝑖𝑚𝑖𝑙𝑎𝑟𝑖𝑡𝑦</m:t>
                      </m:r>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14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𝐸</m:t>
                          </m:r>
                        </m:e>
                        <m:sub>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𝑖</m:t>
                          </m:r>
                        </m:sub>
                      </m:sSub>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 , </m:t>
                      </m:r>
                      <m:sSub>
                        <m:sSubPr>
                          <m:ctrlPr>
                            <a:rPr lang="en-IN" sz="14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𝐸</m:t>
                          </m:r>
                        </m:e>
                        <m:sub>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𝑗</m:t>
                          </m:r>
                        </m:sub>
                      </m:sSub>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1371600" algn="ctr">
                  <a:lnSpc>
                    <a:spcPct val="115000"/>
                  </a:lnSpc>
                </a:pPr>
                <a:r>
                  <a:rPr lang="en-IN" sz="1400" b="1"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lvl="0" indent="-285750">
                  <a:lnSpc>
                    <a:spcPct val="115000"/>
                  </a:lnSpc>
                  <a:buFont typeface="Wingdings" panose="05000000000000000000" pitchFamily="2" charset="2"/>
                  <a:buChar char="v"/>
                </a:pPr>
                <a:r>
                  <a:rPr lang="en-IN" sz="1400" b="1" kern="100" dirty="0">
                    <a:effectLst/>
                    <a:latin typeface="Times New Roman" panose="02020603050405020304" pitchFamily="18" charset="0"/>
                    <a:ea typeface="Calibri" panose="020F0502020204030204" pitchFamily="34" charset="0"/>
                    <a:cs typeface="Times New Roman" panose="02020603050405020304" pitchFamily="18" charset="0"/>
                  </a:rPr>
                  <a:t>Calculate average similarity:</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1371600">
                  <a:lnSpc>
                    <a:spcPct val="115000"/>
                  </a:lnSpc>
                </a:pPr>
                <a14:m>
                  <m:oMathPara xmlns:m="http://schemas.openxmlformats.org/officeDocument/2006/math">
                    <m:oMathParaPr>
                      <m:jc m:val="centerGroup"/>
                    </m:oMathParaPr>
                    <m:oMath xmlns:m="http://schemas.openxmlformats.org/officeDocument/2006/math">
                      <m:acc>
                        <m:accPr>
                          <m:chr m:val="̇"/>
                          <m:ctrlPr>
                            <a:rPr lang="en-IN" sz="1400" i="1" kern="100">
                              <a:effectLst/>
                              <a:latin typeface="Cambria Math" panose="02040503050406030204" pitchFamily="18" charset="0"/>
                              <a:ea typeface="Calibri" panose="020F0502020204030204" pitchFamily="34" charset="0"/>
                              <a:cs typeface="Times New Roman" panose="02020603050405020304" pitchFamily="18" charset="0"/>
                            </a:rPr>
                          </m:ctrlPr>
                        </m:accPr>
                        <m:e>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𝑀</m:t>
                          </m:r>
                        </m:e>
                      </m:acc>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m:t>
                      </m:r>
                      <m:f>
                        <m:fPr>
                          <m:ctrlPr>
                            <a:rPr lang="en-IN" sz="1400" i="1" kern="100">
                              <a:effectLst/>
                              <a:latin typeface="Cambria Math" panose="02040503050406030204" pitchFamily="18" charset="0"/>
                              <a:ea typeface="Calibri" panose="020F0502020204030204" pitchFamily="34" charset="0"/>
                              <a:cs typeface="Times New Roman" panose="02020603050405020304" pitchFamily="18" charset="0"/>
                            </a:rPr>
                          </m:ctrlPr>
                        </m:fPr>
                        <m:num>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2</m:t>
                          </m:r>
                        </m:num>
                        <m:den>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𝑁</m:t>
                          </m:r>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m:t>
                          </m:r>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𝑁</m:t>
                          </m:r>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−1)</m:t>
                          </m:r>
                        </m:den>
                      </m:f>
                      <m:nary>
                        <m:naryPr>
                          <m:chr m:val="∑"/>
                          <m:limLoc m:val="undOvr"/>
                          <m:ctrlPr>
                            <a:rPr lang="en-IN" sz="1400" i="1" kern="100">
                              <a:effectLst/>
                              <a:latin typeface="Cambria Math" panose="02040503050406030204" pitchFamily="18" charset="0"/>
                              <a:ea typeface="Calibri" panose="020F0502020204030204" pitchFamily="34" charset="0"/>
                              <a:cs typeface="Times New Roman" panose="02020603050405020304" pitchFamily="18" charset="0"/>
                            </a:rPr>
                          </m:ctrlPr>
                        </m:naryPr>
                        <m:sub>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𝑖</m:t>
                          </m:r>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=1</m:t>
                          </m:r>
                        </m:sub>
                        <m:sup>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𝑁</m:t>
                          </m:r>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−1</m:t>
                          </m:r>
                        </m:sup>
                        <m:e>
                          <m:nary>
                            <m:naryPr>
                              <m:chr m:val="∑"/>
                              <m:limLoc m:val="undOvr"/>
                              <m:ctrlPr>
                                <a:rPr lang="en-IN" sz="1400" i="1" kern="100">
                                  <a:effectLst/>
                                  <a:latin typeface="Cambria Math" panose="02040503050406030204" pitchFamily="18" charset="0"/>
                                  <a:ea typeface="Calibri" panose="020F0502020204030204" pitchFamily="34" charset="0"/>
                                  <a:cs typeface="Times New Roman" panose="02020603050405020304" pitchFamily="18" charset="0"/>
                                </a:rPr>
                              </m:ctrlPr>
                            </m:naryPr>
                            <m:sub>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𝑗</m:t>
                              </m:r>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m:t>
                              </m:r>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𝑖</m:t>
                              </m:r>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+1</m:t>
                              </m:r>
                            </m:sub>
                            <m:sup>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𝑁</m:t>
                              </m:r>
                            </m:sup>
                            <m:e>
                              <m:sSub>
                                <m:sSubPr>
                                  <m:ctrlPr>
                                    <a:rPr lang="en-IN" sz="14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𝑆</m:t>
                                  </m:r>
                                </m:e>
                                <m:sub>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𝑖</m:t>
                                  </m:r>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m:t>
                                  </m:r>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𝑗</m:t>
                                  </m:r>
                                </m:sub>
                              </m:sSub>
                            </m:e>
                          </m:nary>
                        </m:e>
                      </m:nary>
                    </m:oMath>
                  </m:oMathPara>
                </a14:m>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lvl="0" indent="-285750" algn="just">
                  <a:lnSpc>
                    <a:spcPct val="115000"/>
                  </a:lnSpc>
                  <a:spcAft>
                    <a:spcPts val="800"/>
                  </a:spcAft>
                  <a:buFont typeface="Wingdings" panose="05000000000000000000" pitchFamily="2" charset="2"/>
                  <a:buChar char="v"/>
                </a:pPr>
                <a:r>
                  <a:rPr lang="en-IN" sz="1400" b="1" kern="100" dirty="0">
                    <a:effectLst/>
                    <a:latin typeface="Times New Roman" panose="02020603050405020304" pitchFamily="18" charset="0"/>
                    <a:ea typeface="Calibri" panose="020F0502020204030204" pitchFamily="34" charset="0"/>
                    <a:cs typeface="Times New Roman" panose="02020603050405020304" pitchFamily="18" charset="0"/>
                  </a:rPr>
                  <a:t>Calculate the diversity score: </a:t>
                </a:r>
                <a:endParaRPr lang="en-IN" sz="1400" kern="100" dirty="0">
                  <a:latin typeface="Calibri" panose="020F0502020204030204" pitchFamily="34" charset="0"/>
                  <a:ea typeface="Calibri" panose="020F0502020204030204" pitchFamily="34" charset="0"/>
                  <a:cs typeface="Times New Roman" panose="02020603050405020304" pitchFamily="18" charset="0"/>
                </a:endParaRPr>
              </a:p>
              <a:p>
                <a:pPr lvl="0" algn="just">
                  <a:lnSpc>
                    <a:spcPct val="115000"/>
                  </a:lnSpc>
                  <a:spcAft>
                    <a:spcPts val="800"/>
                  </a:spcAft>
                </a:pPr>
                <a14:m>
                  <m:oMathPara xmlns:m="http://schemas.openxmlformats.org/officeDocument/2006/math">
                    <m:oMathParaPr>
                      <m:jc m:val="centerGroup"/>
                    </m:oMathParaPr>
                    <m:oMath xmlns:m="http://schemas.openxmlformats.org/officeDocument/2006/math">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𝐷</m:t>
                      </m:r>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=1−</m:t>
                      </m:r>
                      <m:acc>
                        <m:accPr>
                          <m:chr m:val="̇"/>
                          <m:ctrlPr>
                            <a:rPr lang="en-IN" sz="1400" i="1" kern="100">
                              <a:effectLst/>
                              <a:latin typeface="Cambria Math" panose="02040503050406030204" pitchFamily="18" charset="0"/>
                              <a:ea typeface="Calibri" panose="020F0502020204030204" pitchFamily="34" charset="0"/>
                              <a:cs typeface="Times New Roman" panose="02020603050405020304" pitchFamily="18" charset="0"/>
                            </a:rPr>
                          </m:ctrlPr>
                        </m:accPr>
                        <m:e>
                          <m:r>
                            <a:rPr lang="en-IN" sz="1400" i="1" kern="100">
                              <a:effectLst/>
                              <a:latin typeface="Cambria Math" panose="02040503050406030204" pitchFamily="18" charset="0"/>
                              <a:ea typeface="Calibri" panose="020F0502020204030204" pitchFamily="34" charset="0"/>
                              <a:cs typeface="Times New Roman" panose="02020603050405020304" pitchFamily="18" charset="0"/>
                            </a:rPr>
                            <m:t>𝑀</m:t>
                          </m:r>
                        </m:e>
                      </m:acc>
                    </m:oMath>
                  </m:oMathPara>
                </a14:m>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lvl="0" indent="-285750" algn="just">
                  <a:lnSpc>
                    <a:spcPct val="115000"/>
                  </a:lnSpc>
                  <a:spcAft>
                    <a:spcPts val="800"/>
                  </a:spcAft>
                  <a:buFont typeface="Wingdings" panose="05000000000000000000" pitchFamily="2" charset="2"/>
                  <a:buChar char="v"/>
                </a:pPr>
                <a:r>
                  <a:rPr lang="en-IN" sz="1400" b="1" kern="1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Higher Diverse score </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means more diverse chunks (lower average pairwise similarity).</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1295400" algn="just">
                  <a:lnSpc>
                    <a:spcPct val="115000"/>
                  </a:lnSpc>
                  <a:spcAft>
                    <a:spcPts val="800"/>
                  </a:spcAft>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914400" algn="just">
                  <a:lnSpc>
                    <a:spcPct val="115000"/>
                  </a:lnSpc>
                  <a:spcAft>
                    <a:spcPts val="800"/>
                  </a:spcAft>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p:sp>
            <p:nvSpPr>
              <p:cNvPr id="8" name="TextBox 7">
                <a:extLst>
                  <a:ext uri="{FF2B5EF4-FFF2-40B4-BE49-F238E27FC236}">
                    <a16:creationId xmlns:a16="http://schemas.microsoft.com/office/drawing/2014/main" id="{B253D6DD-D14C-3AA4-3BF8-E3407E92F1E5}"/>
                  </a:ext>
                </a:extLst>
              </p:cNvPr>
              <p:cNvSpPr txBox="1">
                <a:spLocks noRot="1" noChangeAspect="1" noMove="1" noResize="1" noEditPoints="1" noAdjustHandles="1" noChangeArrowheads="1" noChangeShapeType="1" noTextEdit="1"/>
              </p:cNvSpPr>
              <p:nvPr/>
            </p:nvSpPr>
            <p:spPr>
              <a:xfrm>
                <a:off x="404965" y="1693698"/>
                <a:ext cx="6096000" cy="4955844"/>
              </a:xfrm>
              <a:prstGeom prst="rect">
                <a:avLst/>
              </a:prstGeom>
              <a:blipFill>
                <a:blip r:embed="rId3"/>
                <a:stretch>
                  <a:fillRect l="-100" r="-300" b="-246"/>
                </a:stretch>
              </a:blipFill>
            </p:spPr>
            <p:txBody>
              <a:bodyPr/>
              <a:lstStyle/>
              <a:p>
                <a:r>
                  <a:rPr lang="en-IN">
                    <a:noFill/>
                  </a:rPr>
                  <a:t> </a:t>
                </a:r>
              </a:p>
            </p:txBody>
          </p:sp>
        </mc:Fallback>
      </mc:AlternateContent>
      <p:pic>
        <p:nvPicPr>
          <p:cNvPr id="10" name="Picture 9">
            <a:extLst>
              <a:ext uri="{FF2B5EF4-FFF2-40B4-BE49-F238E27FC236}">
                <a16:creationId xmlns:a16="http://schemas.microsoft.com/office/drawing/2014/main" id="{1E5A8E3B-1666-D9EE-F472-E83F74841006}"/>
              </a:ext>
            </a:extLst>
          </p:cNvPr>
          <p:cNvPicPr>
            <a:picLocks noChangeAspect="1"/>
          </p:cNvPicPr>
          <p:nvPr/>
        </p:nvPicPr>
        <p:blipFill rotWithShape="1">
          <a:blip r:embed="rId4">
            <a:extLst>
              <a:ext uri="{28A0092B-C50C-407E-A947-70E740481C1C}">
                <a14:useLocalDpi xmlns:a14="http://schemas.microsoft.com/office/drawing/2010/main" val="0"/>
              </a:ext>
            </a:extLst>
          </a:blip>
          <a:srcRect l="2640" t="2239" r="2555" b="2890"/>
          <a:stretch>
            <a:fillRect/>
          </a:stretch>
        </p:blipFill>
        <p:spPr bwMode="auto">
          <a:xfrm>
            <a:off x="6830909" y="1841709"/>
            <a:ext cx="5095619" cy="3399263"/>
          </a:xfrm>
          <a:prstGeom prst="rect">
            <a:avLst/>
          </a:prstGeom>
          <a:ln>
            <a:noFill/>
          </a:ln>
          <a:extLst>
            <a:ext uri="{53640926-AAD7-44D8-BBD7-CCE9431645EC}">
              <a14:shadowObscured xmlns:a14="http://schemas.microsoft.com/office/drawing/2010/main"/>
            </a:ext>
          </a:extLst>
        </p:spPr>
      </p:pic>
      <p:sp>
        <p:nvSpPr>
          <p:cNvPr id="12" name="TextBox 11">
            <a:extLst>
              <a:ext uri="{FF2B5EF4-FFF2-40B4-BE49-F238E27FC236}">
                <a16:creationId xmlns:a16="http://schemas.microsoft.com/office/drawing/2014/main" id="{465C955F-F906-0A33-FAB2-8A2024770EA9}"/>
              </a:ext>
            </a:extLst>
          </p:cNvPr>
          <p:cNvSpPr txBox="1"/>
          <p:nvPr/>
        </p:nvSpPr>
        <p:spPr>
          <a:xfrm>
            <a:off x="6427787" y="5240972"/>
            <a:ext cx="6096000" cy="291298"/>
          </a:xfrm>
          <a:prstGeom prst="rect">
            <a:avLst/>
          </a:prstGeom>
          <a:noFill/>
        </p:spPr>
        <p:txBody>
          <a:bodyPr wrap="square">
            <a:spAutoFit/>
          </a:bodyPr>
          <a:lstStyle/>
          <a:p>
            <a:pPr algn="ctr">
              <a:lnSpc>
                <a:spcPct val="115000"/>
              </a:lnSpc>
              <a:spcAft>
                <a:spcPts val="800"/>
              </a:spcAft>
              <a:buNone/>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Figure 2:</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Diversity-Based Chunking Algorithm</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TextBox 12">
            <a:extLst>
              <a:ext uri="{FF2B5EF4-FFF2-40B4-BE49-F238E27FC236}">
                <a16:creationId xmlns:a16="http://schemas.microsoft.com/office/drawing/2014/main" id="{2118DD4B-CD06-6FB8-2848-39F65181558E}"/>
              </a:ext>
            </a:extLst>
          </p:cNvPr>
          <p:cNvSpPr txBox="1"/>
          <p:nvPr/>
        </p:nvSpPr>
        <p:spPr>
          <a:xfrm>
            <a:off x="6427787" y="5859242"/>
            <a:ext cx="6096000" cy="606256"/>
          </a:xfrm>
          <a:prstGeom prst="rect">
            <a:avLst/>
          </a:prstGeom>
          <a:noFill/>
        </p:spPr>
        <p:txBody>
          <a:bodyPr wrap="square">
            <a:spAutoFit/>
          </a:bodyPr>
          <a:lstStyle/>
          <a:p>
            <a:pPr algn="ctr">
              <a:lnSpc>
                <a:spcPct val="115000"/>
              </a:lnSpc>
              <a:spcAft>
                <a:spcPts val="800"/>
              </a:spcAft>
              <a:buNone/>
            </a:pPr>
            <a:r>
              <a:rPr lang="en-IN" sz="12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Optimal chunk size=256 </a:t>
            </a:r>
          </a:p>
          <a:p>
            <a:pPr algn="ctr">
              <a:lnSpc>
                <a:spcPct val="115000"/>
              </a:lnSpc>
              <a:spcAft>
                <a:spcPts val="800"/>
              </a:spcAft>
              <a:buNone/>
            </a:pPr>
            <a:r>
              <a:rPr lang="en-IN" sz="1200" b="1" kern="1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Overlap=50</a:t>
            </a:r>
            <a:endParaRPr lang="en-IN" sz="1200" b="1" kern="100" dirty="0">
              <a:solidFill>
                <a:srgbClr val="0000FF"/>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86502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randombar(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randombar(horizont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randombar(horizontal)">
                                      <p:cBhvr>
                                        <p:cTn id="22" dur="500"/>
                                        <p:tgtEl>
                                          <p:spTgt spid="10"/>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randombar(horizontal)">
                                      <p:cBhvr>
                                        <p:cTn id="25" dur="5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grpId="0" nodeType="clickEffect">
                                  <p:stCondLst>
                                    <p:cond delay="0"/>
                                  </p:stCondLst>
                                  <p:childTnLst>
                                    <p:set>
                                      <p:cBhvr>
                                        <p:cTn id="29" dur="1" fill="hold">
                                          <p:stCondLst>
                                            <p:cond delay="0"/>
                                          </p:stCondLst>
                                        </p:cTn>
                                        <p:tgtEl>
                                          <p:spTgt spid="13">
                                            <p:txEl>
                                              <p:pRg st="0" end="0"/>
                                            </p:txEl>
                                          </p:spTgt>
                                        </p:tgtEl>
                                        <p:attrNameLst>
                                          <p:attrName>style.visibility</p:attrName>
                                        </p:attrNameLst>
                                      </p:cBhvr>
                                      <p:to>
                                        <p:strVal val="visible"/>
                                      </p:to>
                                    </p:set>
                                    <p:animEffect transition="in" filter="randombar(horizontal)">
                                      <p:cBhvr>
                                        <p:cTn id="30" dur="500"/>
                                        <p:tgtEl>
                                          <p:spTgt spid="13">
                                            <p:txEl>
                                              <p:pRg st="0" end="0"/>
                                            </p:txEl>
                                          </p:spTgt>
                                        </p:tgtEl>
                                      </p:cBhvr>
                                    </p:animEffect>
                                  </p:childTnLst>
                                </p:cTn>
                              </p:par>
                              <p:par>
                                <p:cTn id="31" presetID="14" presetClass="entr" presetSubtype="10" fill="hold" grpId="0" nodeType="withEffect">
                                  <p:stCondLst>
                                    <p:cond delay="0"/>
                                  </p:stCondLst>
                                  <p:childTnLst>
                                    <p:set>
                                      <p:cBhvr>
                                        <p:cTn id="32" dur="1" fill="hold">
                                          <p:stCondLst>
                                            <p:cond delay="0"/>
                                          </p:stCondLst>
                                        </p:cTn>
                                        <p:tgtEl>
                                          <p:spTgt spid="13">
                                            <p:txEl>
                                              <p:pRg st="1" end="1"/>
                                            </p:txEl>
                                          </p:spTgt>
                                        </p:tgtEl>
                                        <p:attrNameLst>
                                          <p:attrName>style.visibility</p:attrName>
                                        </p:attrNameLst>
                                      </p:cBhvr>
                                      <p:to>
                                        <p:strVal val="visible"/>
                                      </p:to>
                                    </p:set>
                                    <p:animEffect transition="in" filter="randombar(horizontal)">
                                      <p:cBhvr>
                                        <p:cTn id="33" dur="5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P spid="8" grpId="0"/>
      <p:bldP spid="12" grpId="0"/>
      <p:bldP spid="13" grpId="0" uiExpand="1" build="allAtOnce"/>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C4E00-6A59-D94C-CCE1-FC0E1FB969F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5E817B0-483F-4EA6-52F2-DCFBC208F117}"/>
              </a:ext>
            </a:extLst>
          </p:cNvPr>
          <p:cNvSpPr>
            <a:spLocks noGrp="1"/>
          </p:cNvSpPr>
          <p:nvPr>
            <p:ph type="title"/>
          </p:nvPr>
        </p:nvSpPr>
        <p:spPr>
          <a:xfrm>
            <a:off x="253180" y="194187"/>
            <a:ext cx="6698226" cy="685800"/>
          </a:xfrm>
        </p:spPr>
        <p:txBody>
          <a:bodyPr>
            <a:noAutofit/>
          </a:bodyPr>
          <a:lstStyle/>
          <a:p>
            <a:r>
              <a:rPr lang="en-US" sz="2400" b="1" dirty="0">
                <a:solidFill>
                  <a:srgbClr val="180EE2"/>
                </a:solidFill>
                <a:latin typeface="Times New Roman" panose="02020603050405020304" pitchFamily="18" charset="0"/>
                <a:cs typeface="Times New Roman" panose="02020603050405020304" pitchFamily="18" charset="0"/>
              </a:rPr>
              <a:t>3. </a:t>
            </a:r>
            <a:r>
              <a:rPr lang="en-IN" sz="2400" b="1" dirty="0">
                <a:solidFill>
                  <a:srgbClr val="0000FF"/>
                </a:solidFill>
                <a:latin typeface="Times New Roman" panose="02020603050405020304" pitchFamily="18" charset="0"/>
                <a:cs typeface="Times New Roman" panose="02020603050405020304" pitchFamily="18" charset="0"/>
              </a:rPr>
              <a:t>Document Chunking</a:t>
            </a:r>
            <a:endParaRPr lang="en-US" sz="2400" b="1" dirty="0">
              <a:solidFill>
                <a:srgbClr val="0000FF"/>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F907836-08FC-D685-A742-C730E5AEA305}"/>
              </a:ext>
            </a:extLst>
          </p:cNvPr>
          <p:cNvSpPr txBox="1"/>
          <p:nvPr/>
        </p:nvSpPr>
        <p:spPr>
          <a:xfrm>
            <a:off x="253180" y="879987"/>
            <a:ext cx="10471355" cy="1021690"/>
          </a:xfrm>
          <a:prstGeom prst="rect">
            <a:avLst/>
          </a:prstGeom>
          <a:noFill/>
        </p:spPr>
        <p:txBody>
          <a:bodyPr wrap="square">
            <a:spAutoFit/>
          </a:bodyPr>
          <a:lstStyle/>
          <a:p>
            <a:pPr marL="514350" indent="-285750" algn="just">
              <a:lnSpc>
                <a:spcPct val="115000"/>
              </a:lnSpc>
              <a:spcAft>
                <a:spcPts val="800"/>
              </a:spcAft>
              <a:buFont typeface="Wingdings" panose="05000000000000000000" pitchFamily="2" charset="2"/>
              <a:buChar char="v"/>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The splitter is configured with a default </a:t>
            </a:r>
            <a:r>
              <a:rPr lang="en-IN" sz="1600" b="1" kern="1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chunk size of 256 tokens </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and an overlap of </a:t>
            </a:r>
            <a:r>
              <a:rPr lang="en-IN" sz="16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50 tokens </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to preserve contextual continuity across chunks. </a:t>
            </a:r>
          </a:p>
          <a:p>
            <a:pPr marL="514350" indent="-285750" algn="just">
              <a:lnSpc>
                <a:spcPct val="115000"/>
              </a:lnSpc>
              <a:spcAft>
                <a:spcPts val="800"/>
              </a:spcAft>
              <a:buFont typeface="Wingdings" panose="05000000000000000000" pitchFamily="2" charset="2"/>
              <a:buChar char="v"/>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This chunking strategy was applied to all 60 files in the dataset, resulting in a total of 516 chunks.</a:t>
            </a:r>
          </a:p>
        </p:txBody>
      </p:sp>
      <p:sp>
        <p:nvSpPr>
          <p:cNvPr id="6" name="Title 1">
            <a:extLst>
              <a:ext uri="{FF2B5EF4-FFF2-40B4-BE49-F238E27FC236}">
                <a16:creationId xmlns:a16="http://schemas.microsoft.com/office/drawing/2014/main" id="{5DF38F31-15ED-944C-4B89-73435C773584}"/>
              </a:ext>
            </a:extLst>
          </p:cNvPr>
          <p:cNvSpPr txBox="1">
            <a:spLocks/>
          </p:cNvSpPr>
          <p:nvPr/>
        </p:nvSpPr>
        <p:spPr>
          <a:xfrm>
            <a:off x="277761" y="2185225"/>
            <a:ext cx="6698226" cy="6858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solidFill>
                  <a:srgbClr val="180EE2"/>
                </a:solidFill>
                <a:latin typeface="Times New Roman" panose="02020603050405020304" pitchFamily="18" charset="0"/>
                <a:cs typeface="Times New Roman" panose="02020603050405020304" pitchFamily="18" charset="0"/>
              </a:rPr>
              <a:t>4. Embedding Technique and Vector Database</a:t>
            </a:r>
            <a:endParaRPr lang="en-US" sz="2400" b="1" dirty="0">
              <a:solidFill>
                <a:srgbClr val="0000FF"/>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DD14E07B-F81D-59B0-7EF4-AC0242B0F63B}"/>
              </a:ext>
            </a:extLst>
          </p:cNvPr>
          <p:cNvSpPr txBox="1"/>
          <p:nvPr/>
        </p:nvSpPr>
        <p:spPr>
          <a:xfrm>
            <a:off x="253180" y="2891755"/>
            <a:ext cx="10724536" cy="2751266"/>
          </a:xfrm>
          <a:prstGeom prst="rect">
            <a:avLst/>
          </a:prstGeom>
          <a:noFill/>
        </p:spPr>
        <p:txBody>
          <a:bodyPr wrap="square">
            <a:spAutoFit/>
          </a:bodyPr>
          <a:lstStyle/>
          <a:p>
            <a:pPr marL="514350" indent="-285750" algn="just">
              <a:lnSpc>
                <a:spcPct val="115000"/>
              </a:lnSpc>
              <a:spcAft>
                <a:spcPts val="800"/>
              </a:spcAft>
              <a:buFont typeface="Wingdings" panose="05000000000000000000" pitchFamily="2" charset="2"/>
              <a:buChar char="v"/>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Two embedding methods have been implemented: one open-source </a:t>
            </a:r>
            <a:r>
              <a:rPr lang="en-IN" sz="16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(SBERT) </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and the other closed source </a:t>
            </a:r>
            <a:r>
              <a:rPr lang="en-IN" sz="1600" b="1" kern="1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(OpenAI). </a:t>
            </a:r>
          </a:p>
          <a:p>
            <a:pPr marL="514350" indent="-285750" algn="just">
              <a:lnSpc>
                <a:spcPct val="115000"/>
              </a:lnSpc>
              <a:spcAft>
                <a:spcPts val="800"/>
              </a:spcAft>
              <a:buFont typeface="Wingdings" panose="05000000000000000000" pitchFamily="2" charset="2"/>
              <a:buChar char="v"/>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Due to its high dimensionality, rich semantic representation, and low latency, the OpenAI embedding is selected for further use.</a:t>
            </a:r>
          </a:p>
          <a:p>
            <a:pPr marL="514350" indent="-285750" algn="just">
              <a:lnSpc>
                <a:spcPct val="115000"/>
              </a:lnSpc>
              <a:spcAft>
                <a:spcPts val="800"/>
              </a:spcAft>
              <a:buFont typeface="Wingdings" panose="05000000000000000000" pitchFamily="2" charset="2"/>
              <a:buChar char="v"/>
            </a:pPr>
            <a:r>
              <a:rPr lang="en-IN" sz="1600" kern="100" dirty="0">
                <a:latin typeface="Times New Roman" panose="02020603050405020304" pitchFamily="18" charset="0"/>
                <a:ea typeface="Calibri" panose="020F0502020204030204" pitchFamily="34" charset="0"/>
                <a:cs typeface="Times New Roman" panose="02020603050405020304" pitchFamily="18" charset="0"/>
              </a:rPr>
              <a:t>The chunks are converted into vectors using the OpenAI embedding technique and stored in a vector database. </a:t>
            </a:r>
          </a:p>
          <a:p>
            <a:pPr marL="514350" indent="-285750" algn="just">
              <a:lnSpc>
                <a:spcPct val="115000"/>
              </a:lnSpc>
              <a:spcAft>
                <a:spcPts val="800"/>
              </a:spcAft>
              <a:buFont typeface="Wingdings" panose="05000000000000000000" pitchFamily="2" charset="2"/>
              <a:buChar char="v"/>
            </a:pPr>
            <a:r>
              <a:rPr lang="en-IN" sz="1600" b="1" kern="100" dirty="0">
                <a:solidFill>
                  <a:srgbClr val="FFC000"/>
                </a:solidFill>
                <a:latin typeface="Times New Roman" panose="02020603050405020304" pitchFamily="18" charset="0"/>
                <a:ea typeface="Calibri" panose="020F0502020204030204" pitchFamily="34" charset="0"/>
                <a:cs typeface="Times New Roman" panose="02020603050405020304" pitchFamily="18" charset="0"/>
              </a:rPr>
              <a:t>ChromaDB</a:t>
            </a:r>
            <a:r>
              <a:rPr lang="en-IN" sz="1600" kern="100" dirty="0">
                <a:latin typeface="Times New Roman" panose="02020603050405020304" pitchFamily="18" charset="0"/>
                <a:ea typeface="Calibri" panose="020F0502020204030204" pitchFamily="34" charset="0"/>
                <a:cs typeface="Times New Roman" panose="02020603050405020304" pitchFamily="18" charset="0"/>
              </a:rPr>
              <a:t> is used due to its seamless compatibility with popular embedding models </a:t>
            </a:r>
            <a:r>
              <a:rPr lang="en-IN" sz="1600" b="1" kern="100" dirty="0">
                <a:latin typeface="Times New Roman" panose="02020603050405020304" pitchFamily="18" charset="0"/>
                <a:ea typeface="Calibri" panose="020F0502020204030204" pitchFamily="34" charset="0"/>
                <a:cs typeface="Times New Roman" panose="02020603050405020304" pitchFamily="18" charset="0"/>
              </a:rPr>
              <a:t>(OpenAI, Sentence Transformers, Cohere), </a:t>
            </a:r>
            <a:r>
              <a:rPr lang="en-IN" sz="1600" kern="100" dirty="0">
                <a:latin typeface="Times New Roman" panose="02020603050405020304" pitchFamily="18" charset="0"/>
                <a:ea typeface="Calibri" panose="020F0502020204030204" pitchFamily="34" charset="0"/>
                <a:cs typeface="Times New Roman" panose="02020603050405020304" pitchFamily="18" charset="0"/>
              </a:rPr>
              <a:t>its ability to run locally without requiring an external server or database, and its efficient in-memory retrieval powered by optimized approximate nearest neighbours </a:t>
            </a:r>
            <a:r>
              <a:rPr lang="en-IN" sz="1600" b="1" kern="100" dirty="0">
                <a:solidFill>
                  <a:srgbClr val="92D050"/>
                </a:solidFill>
                <a:latin typeface="Times New Roman" panose="02020603050405020304" pitchFamily="18" charset="0"/>
                <a:ea typeface="Calibri" panose="020F0502020204030204" pitchFamily="34" charset="0"/>
                <a:cs typeface="Times New Roman" panose="02020603050405020304" pitchFamily="18" charset="0"/>
              </a:rPr>
              <a:t>(ANN) </a:t>
            </a:r>
            <a:r>
              <a:rPr lang="en-IN" sz="1600" kern="100" dirty="0">
                <a:latin typeface="Times New Roman" panose="02020603050405020304" pitchFamily="18" charset="0"/>
                <a:ea typeface="Calibri" panose="020F0502020204030204" pitchFamily="34" charset="0"/>
                <a:cs typeface="Times New Roman" panose="02020603050405020304" pitchFamily="18" charset="0"/>
              </a:rPr>
              <a:t>algorithms.</a:t>
            </a:r>
          </a:p>
          <a:p>
            <a:pPr marL="514350" indent="-285750" algn="just">
              <a:lnSpc>
                <a:spcPct val="115000"/>
              </a:lnSpc>
              <a:spcAft>
                <a:spcPts val="800"/>
              </a:spcAft>
              <a:buFont typeface="Wingdings" panose="05000000000000000000" pitchFamily="2" charset="2"/>
              <a:buChar char="v"/>
            </a:pP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76965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randombar(horizont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randombar(horizontal)">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8DD09-4A10-2DE9-A5CB-6B635ECCCD7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719C8C4-9A70-1367-19B8-6E1FE299B106}"/>
              </a:ext>
            </a:extLst>
          </p:cNvPr>
          <p:cNvSpPr>
            <a:spLocks noGrp="1"/>
          </p:cNvSpPr>
          <p:nvPr>
            <p:ph type="title"/>
          </p:nvPr>
        </p:nvSpPr>
        <p:spPr>
          <a:xfrm>
            <a:off x="322006" y="194187"/>
            <a:ext cx="6698226" cy="685800"/>
          </a:xfrm>
        </p:spPr>
        <p:txBody>
          <a:bodyPr>
            <a:noAutofit/>
          </a:bodyPr>
          <a:lstStyle/>
          <a:p>
            <a:r>
              <a:rPr lang="en-US" sz="2400" b="1" dirty="0">
                <a:solidFill>
                  <a:srgbClr val="180EE2"/>
                </a:solidFill>
                <a:latin typeface="Times New Roman" panose="02020603050405020304" pitchFamily="18" charset="0"/>
                <a:cs typeface="Times New Roman" panose="02020603050405020304" pitchFamily="18" charset="0"/>
              </a:rPr>
              <a:t>5. </a:t>
            </a:r>
            <a:r>
              <a:rPr lang="en-IN" sz="2400" b="1" dirty="0">
                <a:solidFill>
                  <a:srgbClr val="0000FF"/>
                </a:solidFill>
                <a:latin typeface="Times New Roman" panose="02020603050405020304" pitchFamily="18" charset="0"/>
                <a:cs typeface="Times New Roman" panose="02020603050405020304" pitchFamily="18" charset="0"/>
              </a:rPr>
              <a:t>Retrieval System</a:t>
            </a:r>
            <a:endParaRPr lang="en-US" sz="2400" b="1" dirty="0">
              <a:solidFill>
                <a:srgbClr val="0000FF"/>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4F8D6BD-28BE-87C5-6303-3F9A6CFF61B1}"/>
              </a:ext>
            </a:extLst>
          </p:cNvPr>
          <p:cNvSpPr txBox="1"/>
          <p:nvPr/>
        </p:nvSpPr>
        <p:spPr>
          <a:xfrm>
            <a:off x="164690" y="845574"/>
            <a:ext cx="6096000" cy="5484771"/>
          </a:xfrm>
          <a:prstGeom prst="rect">
            <a:avLst/>
          </a:prstGeom>
          <a:noFill/>
        </p:spPr>
        <p:txBody>
          <a:bodyPr wrap="square">
            <a:spAutoFit/>
          </a:bodyPr>
          <a:lstStyle/>
          <a:p>
            <a:pPr marL="285750" lvl="0" indent="-285750" algn="just">
              <a:lnSpc>
                <a:spcPct val="115000"/>
              </a:lnSpc>
              <a:buFont typeface="Wingdings" panose="05000000000000000000" pitchFamily="2" charset="2"/>
              <a:buChar char="v"/>
            </a:pPr>
            <a:r>
              <a:rPr lang="en-IN" sz="1400" b="1" kern="100" dirty="0">
                <a:effectLst/>
                <a:latin typeface="Times New Roman" panose="02020603050405020304" pitchFamily="18" charset="0"/>
                <a:ea typeface="Calibri" panose="020F0502020204030204" pitchFamily="34" charset="0"/>
                <a:cs typeface="Times New Roman" panose="02020603050405020304" pitchFamily="18" charset="0"/>
              </a:rPr>
              <a:t>Query Embedding:</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Convert user query into an embedding vector using OpenAI embedding technique.</a:t>
            </a:r>
            <a:endParaRPr lang="en-IN" sz="1400" kern="100" dirty="0">
              <a:latin typeface="Calibri" panose="020F0502020204030204" pitchFamily="34" charset="0"/>
              <a:ea typeface="Calibri" panose="020F0502020204030204" pitchFamily="34" charset="0"/>
              <a:cs typeface="Times New Roman" panose="02020603050405020304" pitchFamily="18" charset="0"/>
            </a:endParaRPr>
          </a:p>
          <a:p>
            <a:pPr lvl="0" algn="just">
              <a:lnSpc>
                <a:spcPct val="115000"/>
              </a:lnSpc>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lvl="0" indent="-285750" algn="just">
              <a:lnSpc>
                <a:spcPct val="115000"/>
              </a:lnSpc>
              <a:spcAft>
                <a:spcPts val="800"/>
              </a:spcAft>
              <a:buFont typeface="Wingdings" panose="05000000000000000000" pitchFamily="2" charset="2"/>
              <a:buChar char="v"/>
            </a:pPr>
            <a:r>
              <a:rPr lang="en-IN" sz="1400" b="1" kern="100" dirty="0">
                <a:effectLst/>
                <a:latin typeface="Times New Roman" panose="02020603050405020304" pitchFamily="18" charset="0"/>
                <a:ea typeface="Calibri" panose="020F0502020204030204" pitchFamily="34" charset="0"/>
                <a:cs typeface="Times New Roman" panose="02020603050405020304" pitchFamily="18" charset="0"/>
              </a:rPr>
              <a:t>Dense Vector Search</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Compute cosine similarity between the query embedding and document embeddings stored in the vector database. Retain documents with a similarity score above a predefined </a:t>
            </a:r>
            <a:r>
              <a:rPr lang="en-IN" sz="14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threshold (0.5).</a:t>
            </a:r>
            <a:endParaRPr lang="en-IN" sz="1400" b="1" kern="1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lvl="0" algn="just">
              <a:lnSpc>
                <a:spcPct val="115000"/>
              </a:lnSpc>
              <a:spcAft>
                <a:spcPts val="800"/>
              </a:spcAft>
            </a:pP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IN" sz="1400" b="1" kern="100" dirty="0">
                <a:effectLst/>
                <a:latin typeface="Times New Roman" panose="02020603050405020304" pitchFamily="18" charset="0"/>
                <a:ea typeface="Calibri" panose="020F0502020204030204" pitchFamily="34" charset="0"/>
                <a:cs typeface="Times New Roman" panose="02020603050405020304" pitchFamily="18" charset="0"/>
              </a:rPr>
              <a:t>BM-25 Keyword Search:</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Perform a keyword-based search using the </a:t>
            </a:r>
            <a:r>
              <a:rPr lang="en-IN" sz="1400" b="1" kern="1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BM25 </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algorithm to retrieve documents containing query-relevant terms.</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723900" algn="just">
              <a:lnSpc>
                <a:spcPct val="115000"/>
              </a:lnSpc>
            </a:pP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IN" sz="1400" b="1" kern="100" dirty="0">
                <a:effectLst/>
                <a:latin typeface="Times New Roman" panose="02020603050405020304" pitchFamily="18" charset="0"/>
                <a:ea typeface="Calibri" panose="020F0502020204030204" pitchFamily="34" charset="0"/>
                <a:cs typeface="Times New Roman" panose="02020603050405020304" pitchFamily="18" charset="0"/>
              </a:rPr>
              <a:t>Merge Results:</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Combine the results from both dense vector search and BM25 keyword search to create a candidate set of documents.</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15000"/>
              </a:lnSpc>
            </a:pP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IN" sz="1400" b="1" kern="100" dirty="0">
                <a:effectLst/>
                <a:latin typeface="Times New Roman" panose="02020603050405020304" pitchFamily="18" charset="0"/>
                <a:ea typeface="Calibri" panose="020F0502020204030204" pitchFamily="34" charset="0"/>
                <a:cs typeface="Times New Roman" panose="02020603050405020304" pitchFamily="18" charset="0"/>
              </a:rPr>
              <a:t>Semantic Filtering:</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Use a Sentence Transformer </a:t>
            </a:r>
            <a:r>
              <a:rPr lang="en-IN" sz="14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(bi-encoder) </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to encode the query and all candidate documents. Filter out documents with semantic similarity scores below the threshold.</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723900" algn="just">
              <a:lnSpc>
                <a:spcPct val="115000"/>
              </a:lnSpc>
            </a:pP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lvl="0" indent="-285750" algn="just">
              <a:lnSpc>
                <a:spcPct val="115000"/>
              </a:lnSpc>
              <a:spcAft>
                <a:spcPts val="800"/>
              </a:spcAft>
              <a:buFont typeface="Wingdings" panose="05000000000000000000" pitchFamily="2" charset="2"/>
              <a:buChar char="v"/>
            </a:pPr>
            <a:r>
              <a:rPr lang="en-IN" sz="1400" b="1" kern="100" dirty="0">
                <a:effectLst/>
                <a:latin typeface="Times New Roman" panose="02020603050405020304" pitchFamily="18" charset="0"/>
                <a:ea typeface="Calibri" panose="020F0502020204030204" pitchFamily="34" charset="0"/>
                <a:cs typeface="Times New Roman" panose="02020603050405020304" pitchFamily="18" charset="0"/>
              </a:rPr>
              <a:t>Re-ranking Technique using Cross-Encoder: </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For each remaining (query, document) pair, use a cross-encoder model to assign a relevance score. Re-rank the documents based on these scores and return the </a:t>
            </a:r>
            <a:r>
              <a:rPr lang="en-IN" sz="1400" b="1" kern="1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top-k most </a:t>
            </a: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relevant documents.</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7" name="TextBox 26">
            <a:extLst>
              <a:ext uri="{FF2B5EF4-FFF2-40B4-BE49-F238E27FC236}">
                <a16:creationId xmlns:a16="http://schemas.microsoft.com/office/drawing/2014/main" id="{21289CF7-F55E-E839-102C-19D96A0F3A74}"/>
              </a:ext>
            </a:extLst>
          </p:cNvPr>
          <p:cNvSpPr txBox="1"/>
          <p:nvPr/>
        </p:nvSpPr>
        <p:spPr>
          <a:xfrm>
            <a:off x="7994831" y="6235488"/>
            <a:ext cx="4702328" cy="291298"/>
          </a:xfrm>
          <a:prstGeom prst="rect">
            <a:avLst/>
          </a:prstGeom>
          <a:noFill/>
        </p:spPr>
        <p:txBody>
          <a:bodyPr wrap="square">
            <a:spAutoFit/>
          </a:bodyPr>
          <a:lstStyle/>
          <a:p>
            <a:pPr algn="ctr">
              <a:lnSpc>
                <a:spcPct val="115000"/>
              </a:lnSpc>
              <a:spcAft>
                <a:spcPts val="800"/>
              </a:spcAft>
              <a:buNone/>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Figure 3:</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Retrieval system</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30" name="Group 29">
            <a:extLst>
              <a:ext uri="{FF2B5EF4-FFF2-40B4-BE49-F238E27FC236}">
                <a16:creationId xmlns:a16="http://schemas.microsoft.com/office/drawing/2014/main" id="{9667DAE3-B297-A530-17CD-0F6B5455B4CC}"/>
              </a:ext>
            </a:extLst>
          </p:cNvPr>
          <p:cNvGrpSpPr/>
          <p:nvPr/>
        </p:nvGrpSpPr>
        <p:grpSpPr>
          <a:xfrm>
            <a:off x="7317660" y="331214"/>
            <a:ext cx="4552334" cy="5703958"/>
            <a:chOff x="7317660" y="331214"/>
            <a:chExt cx="4552334" cy="5703958"/>
          </a:xfrm>
        </p:grpSpPr>
        <p:sp>
          <p:nvSpPr>
            <p:cNvPr id="10" name="Cylinder 9">
              <a:extLst>
                <a:ext uri="{FF2B5EF4-FFF2-40B4-BE49-F238E27FC236}">
                  <a16:creationId xmlns:a16="http://schemas.microsoft.com/office/drawing/2014/main" id="{A7A10F09-6AA7-EE8A-1EF3-088C144036D5}"/>
                </a:ext>
              </a:extLst>
            </p:cNvPr>
            <p:cNvSpPr/>
            <p:nvPr/>
          </p:nvSpPr>
          <p:spPr>
            <a:xfrm>
              <a:off x="9657737" y="331214"/>
              <a:ext cx="1376516" cy="1602658"/>
            </a:xfrm>
            <a:prstGeom prst="can">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b="1" dirty="0">
                  <a:latin typeface="Times New Roman" panose="02020603050405020304" pitchFamily="18" charset="0"/>
                  <a:cs typeface="Times New Roman" panose="02020603050405020304" pitchFamily="18" charset="0"/>
                </a:rPr>
                <a:t>Vector DB</a:t>
              </a:r>
            </a:p>
          </p:txBody>
        </p:sp>
        <p:sp>
          <p:nvSpPr>
            <p:cNvPr id="11" name="Rectangle 10">
              <a:extLst>
                <a:ext uri="{FF2B5EF4-FFF2-40B4-BE49-F238E27FC236}">
                  <a16:creationId xmlns:a16="http://schemas.microsoft.com/office/drawing/2014/main" id="{9D6245A6-2335-5211-F630-DA168E514142}"/>
                </a:ext>
              </a:extLst>
            </p:cNvPr>
            <p:cNvSpPr/>
            <p:nvPr/>
          </p:nvSpPr>
          <p:spPr>
            <a:xfrm>
              <a:off x="7317660" y="901484"/>
              <a:ext cx="1700980" cy="786581"/>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Query embedding</a:t>
              </a:r>
            </a:p>
          </p:txBody>
        </p:sp>
        <p:cxnSp>
          <p:nvCxnSpPr>
            <p:cNvPr id="13" name="Straight Arrow Connector 12">
              <a:extLst>
                <a:ext uri="{FF2B5EF4-FFF2-40B4-BE49-F238E27FC236}">
                  <a16:creationId xmlns:a16="http://schemas.microsoft.com/office/drawing/2014/main" id="{65048743-4E0D-2700-EBB2-CA29DC03422A}"/>
                </a:ext>
              </a:extLst>
            </p:cNvPr>
            <p:cNvCxnSpPr>
              <a:stCxn id="11" idx="3"/>
            </p:cNvCxnSpPr>
            <p:nvPr/>
          </p:nvCxnSpPr>
          <p:spPr>
            <a:xfrm flipV="1">
              <a:off x="9018640" y="1294774"/>
              <a:ext cx="521110"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5" name="Rectangle 14">
              <a:extLst>
                <a:ext uri="{FF2B5EF4-FFF2-40B4-BE49-F238E27FC236}">
                  <a16:creationId xmlns:a16="http://schemas.microsoft.com/office/drawing/2014/main" id="{CE9B4842-93CE-D7AB-34CE-8CCF4415B44F}"/>
                </a:ext>
              </a:extLst>
            </p:cNvPr>
            <p:cNvSpPr/>
            <p:nvPr/>
          </p:nvSpPr>
          <p:spPr>
            <a:xfrm>
              <a:off x="9657737" y="2140350"/>
              <a:ext cx="1651819" cy="61943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Vector search</a:t>
              </a:r>
            </a:p>
          </p:txBody>
        </p:sp>
        <p:sp>
          <p:nvSpPr>
            <p:cNvPr id="16" name="Rectangle 15">
              <a:extLst>
                <a:ext uri="{FF2B5EF4-FFF2-40B4-BE49-F238E27FC236}">
                  <a16:creationId xmlns:a16="http://schemas.microsoft.com/office/drawing/2014/main" id="{4D4EA8F9-9507-8145-D359-24F4A6C6ECDD}"/>
                </a:ext>
              </a:extLst>
            </p:cNvPr>
            <p:cNvSpPr/>
            <p:nvPr/>
          </p:nvSpPr>
          <p:spPr>
            <a:xfrm>
              <a:off x="9657737" y="3148157"/>
              <a:ext cx="1651819" cy="781664"/>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Keyword search</a:t>
              </a:r>
            </a:p>
          </p:txBody>
        </p:sp>
        <p:cxnSp>
          <p:nvCxnSpPr>
            <p:cNvPr id="20" name="Connector: Elbow 19">
              <a:extLst>
                <a:ext uri="{FF2B5EF4-FFF2-40B4-BE49-F238E27FC236}">
                  <a16:creationId xmlns:a16="http://schemas.microsoft.com/office/drawing/2014/main" id="{5A0EC02D-499B-0324-92B8-51E7CF9B8D83}"/>
                </a:ext>
              </a:extLst>
            </p:cNvPr>
            <p:cNvCxnSpPr>
              <a:stCxn id="10" idx="4"/>
              <a:endCxn id="15" idx="3"/>
            </p:cNvCxnSpPr>
            <p:nvPr/>
          </p:nvCxnSpPr>
          <p:spPr>
            <a:xfrm>
              <a:off x="11034253" y="1132543"/>
              <a:ext cx="275303" cy="1317523"/>
            </a:xfrm>
            <a:prstGeom prst="bentConnector3">
              <a:avLst>
                <a:gd name="adj1" fmla="val 183036"/>
              </a:avLst>
            </a:prstGeom>
            <a:ln>
              <a:tailEnd type="triangle"/>
            </a:ln>
          </p:spPr>
          <p:style>
            <a:lnRef idx="3">
              <a:schemeClr val="dk1"/>
            </a:lnRef>
            <a:fillRef idx="0">
              <a:schemeClr val="dk1"/>
            </a:fillRef>
            <a:effectRef idx="2">
              <a:schemeClr val="dk1"/>
            </a:effectRef>
            <a:fontRef idx="minor">
              <a:schemeClr val="tx1"/>
            </a:fontRef>
          </p:style>
        </p:cxnSp>
        <p:cxnSp>
          <p:nvCxnSpPr>
            <p:cNvPr id="22" name="Straight Arrow Connector 21">
              <a:extLst>
                <a:ext uri="{FF2B5EF4-FFF2-40B4-BE49-F238E27FC236}">
                  <a16:creationId xmlns:a16="http://schemas.microsoft.com/office/drawing/2014/main" id="{7F9F6F4F-4ABE-25CC-E7CB-B40AAA7939D6}"/>
                </a:ext>
              </a:extLst>
            </p:cNvPr>
            <p:cNvCxnSpPr>
              <a:cxnSpLocks/>
            </p:cNvCxnSpPr>
            <p:nvPr/>
          </p:nvCxnSpPr>
          <p:spPr>
            <a:xfrm>
              <a:off x="10454151" y="2759782"/>
              <a:ext cx="0" cy="38837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 name="Straight Arrow Connector 23">
              <a:extLst>
                <a:ext uri="{FF2B5EF4-FFF2-40B4-BE49-F238E27FC236}">
                  <a16:creationId xmlns:a16="http://schemas.microsoft.com/office/drawing/2014/main" id="{39775C05-2E85-8283-389B-9229CAF4BAA8}"/>
                </a:ext>
              </a:extLst>
            </p:cNvPr>
            <p:cNvCxnSpPr>
              <a:cxnSpLocks/>
            </p:cNvCxnSpPr>
            <p:nvPr/>
          </p:nvCxnSpPr>
          <p:spPr>
            <a:xfrm>
              <a:off x="10454151" y="3929821"/>
              <a:ext cx="0" cy="38837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5" name="Rectangle 24">
              <a:extLst>
                <a:ext uri="{FF2B5EF4-FFF2-40B4-BE49-F238E27FC236}">
                  <a16:creationId xmlns:a16="http://schemas.microsoft.com/office/drawing/2014/main" id="{F6B66F80-011C-3196-5AB8-4EB406AD42D4}"/>
                </a:ext>
              </a:extLst>
            </p:cNvPr>
            <p:cNvSpPr/>
            <p:nvPr/>
          </p:nvSpPr>
          <p:spPr>
            <a:xfrm>
              <a:off x="9097297" y="4387022"/>
              <a:ext cx="2772697" cy="61943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Re-ranking(Cross-encoder</a:t>
              </a:r>
              <a:r>
                <a:rPr lang="en-IN" dirty="0"/>
                <a:t>)</a:t>
              </a:r>
            </a:p>
          </p:txBody>
        </p:sp>
        <p:cxnSp>
          <p:nvCxnSpPr>
            <p:cNvPr id="28" name="Straight Arrow Connector 27">
              <a:extLst>
                <a:ext uri="{FF2B5EF4-FFF2-40B4-BE49-F238E27FC236}">
                  <a16:creationId xmlns:a16="http://schemas.microsoft.com/office/drawing/2014/main" id="{2279F62B-AFD4-4672-0D51-78B447EBC380}"/>
                </a:ext>
              </a:extLst>
            </p:cNvPr>
            <p:cNvCxnSpPr>
              <a:cxnSpLocks/>
            </p:cNvCxnSpPr>
            <p:nvPr/>
          </p:nvCxnSpPr>
          <p:spPr>
            <a:xfrm>
              <a:off x="10500854" y="5006452"/>
              <a:ext cx="0" cy="38837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9" name="Rectangle 28">
              <a:extLst>
                <a:ext uri="{FF2B5EF4-FFF2-40B4-BE49-F238E27FC236}">
                  <a16:creationId xmlns:a16="http://schemas.microsoft.com/office/drawing/2014/main" id="{B7E07671-93CF-398C-2EA8-175FA6E1A993}"/>
                </a:ext>
              </a:extLst>
            </p:cNvPr>
            <p:cNvSpPr/>
            <p:nvPr/>
          </p:nvSpPr>
          <p:spPr>
            <a:xfrm>
              <a:off x="9077634" y="5415742"/>
              <a:ext cx="2772697" cy="61943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Top-k relevant documents</a:t>
              </a:r>
              <a:endParaRPr lang="en-IN" dirty="0"/>
            </a:p>
          </p:txBody>
        </p:sp>
      </p:grpSp>
    </p:spTree>
    <p:extLst>
      <p:ext uri="{BB962C8B-B14F-4D97-AF65-F5344CB8AC3E}">
        <p14:creationId xmlns:p14="http://schemas.microsoft.com/office/powerpoint/2010/main" val="2804303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randombar(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randombar(horizontal)">
                                      <p:cBhvr>
                                        <p:cTn id="17" dur="500"/>
                                        <p:tgtEl>
                                          <p:spTgt spid="30"/>
                                        </p:tgtEl>
                                      </p:cBhvr>
                                    </p:animEffect>
                                  </p:childTnLst>
                                </p:cTn>
                              </p:par>
                              <p:par>
                                <p:cTn id="18" presetID="14" presetClass="entr" presetSubtype="10"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randombar(horizontal)">
                                      <p:cBhvr>
                                        <p:cTn id="2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P spid="2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4A980-FFA3-186B-FD5C-716D5FC3983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5443CFD-4884-F611-BCE0-D86C2C3EF829}"/>
              </a:ext>
            </a:extLst>
          </p:cNvPr>
          <p:cNvSpPr>
            <a:spLocks noGrp="1"/>
          </p:cNvSpPr>
          <p:nvPr>
            <p:ph type="title"/>
          </p:nvPr>
        </p:nvSpPr>
        <p:spPr>
          <a:xfrm>
            <a:off x="322006" y="194187"/>
            <a:ext cx="6698226" cy="685800"/>
          </a:xfrm>
        </p:spPr>
        <p:txBody>
          <a:bodyPr>
            <a:noAutofit/>
          </a:bodyPr>
          <a:lstStyle/>
          <a:p>
            <a:r>
              <a:rPr lang="en-US" sz="2400" b="1" dirty="0">
                <a:solidFill>
                  <a:srgbClr val="180EE2"/>
                </a:solidFill>
                <a:latin typeface="Times New Roman" panose="02020603050405020304" pitchFamily="18" charset="0"/>
                <a:cs typeface="Times New Roman" panose="02020603050405020304" pitchFamily="18" charset="0"/>
              </a:rPr>
              <a:t>6. </a:t>
            </a:r>
            <a:r>
              <a:rPr lang="en-IN" sz="2400" b="1" dirty="0">
                <a:solidFill>
                  <a:srgbClr val="0000FF"/>
                </a:solidFill>
                <a:latin typeface="Times New Roman" panose="02020603050405020304" pitchFamily="18" charset="0"/>
                <a:cs typeface="Times New Roman" panose="02020603050405020304" pitchFamily="18" charset="0"/>
              </a:rPr>
              <a:t>LLM Model and Prompt Technique</a:t>
            </a:r>
            <a:endParaRPr lang="en-US" sz="2400" b="1" dirty="0">
              <a:solidFill>
                <a:srgbClr val="0000FF"/>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E9764A3-BDAB-B01A-7600-5F23107CDFC7}"/>
              </a:ext>
            </a:extLst>
          </p:cNvPr>
          <p:cNvSpPr txBox="1"/>
          <p:nvPr/>
        </p:nvSpPr>
        <p:spPr>
          <a:xfrm>
            <a:off x="170835" y="1161843"/>
            <a:ext cx="6096000" cy="2772426"/>
          </a:xfrm>
          <a:prstGeom prst="rect">
            <a:avLst/>
          </a:prstGeom>
          <a:noFill/>
        </p:spPr>
        <p:txBody>
          <a:bodyPr wrap="square">
            <a:spAutoFit/>
          </a:bodyPr>
          <a:lstStyle/>
          <a:p>
            <a:pPr marL="514350" indent="-285750" algn="just">
              <a:lnSpc>
                <a:spcPct val="115000"/>
              </a:lnSpc>
              <a:spcAft>
                <a:spcPts val="800"/>
              </a:spcAft>
              <a:buFont typeface="Wingdings" panose="05000000000000000000" pitchFamily="2" charset="2"/>
              <a:buChar char="v"/>
            </a:pPr>
            <a:r>
              <a:rPr lang="en-IN" sz="1500" kern="100" dirty="0">
                <a:latin typeface="Times New Roman" panose="02020603050405020304" pitchFamily="18" charset="0"/>
                <a:ea typeface="Calibri" panose="020F0502020204030204" pitchFamily="34" charset="0"/>
                <a:cs typeface="Times New Roman" panose="02020603050405020304" pitchFamily="18" charset="0"/>
              </a:rPr>
              <a:t>O</a:t>
            </a:r>
            <a:r>
              <a:rPr lang="en-IN" sz="1500" kern="100" dirty="0">
                <a:effectLst/>
                <a:latin typeface="Times New Roman" panose="02020603050405020304" pitchFamily="18" charset="0"/>
                <a:ea typeface="Calibri" panose="020F0502020204030204" pitchFamily="34" charset="0"/>
                <a:cs typeface="Times New Roman" panose="02020603050405020304" pitchFamily="18" charset="0"/>
              </a:rPr>
              <a:t>pen-source models </a:t>
            </a:r>
            <a:r>
              <a:rPr lang="en-IN" sz="1500" b="1" kern="1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a:t>
            </a:r>
            <a:r>
              <a:rPr lang="en-IN" sz="1500" b="1" i="1" kern="1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LLaMA 3.2:1B, Gemma:2B, and Mistral: latest)</a:t>
            </a:r>
            <a:r>
              <a:rPr lang="en-IN" sz="1500" kern="100" dirty="0">
                <a:effectLst/>
                <a:latin typeface="Times New Roman" panose="02020603050405020304" pitchFamily="18" charset="0"/>
                <a:ea typeface="Calibri" panose="020F0502020204030204" pitchFamily="34" charset="0"/>
                <a:cs typeface="Times New Roman" panose="02020603050405020304" pitchFamily="18" charset="0"/>
              </a:rPr>
              <a:t> and OpenAI’s model </a:t>
            </a:r>
            <a:r>
              <a:rPr lang="en-IN" sz="1500" b="1" i="1"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IN" sz="1500" b="1" i="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GPT-3.5-Turbo) </a:t>
            </a:r>
            <a:r>
              <a:rPr lang="en-IN" sz="1500" i="1" kern="100" dirty="0">
                <a:effectLst/>
                <a:latin typeface="Times New Roman" panose="02020603050405020304" pitchFamily="18" charset="0"/>
                <a:ea typeface="Calibri" panose="020F0502020204030204" pitchFamily="34" charset="0"/>
                <a:cs typeface="Times New Roman" panose="02020603050405020304" pitchFamily="18" charset="0"/>
              </a:rPr>
              <a:t>are used for chatbot.</a:t>
            </a:r>
            <a:r>
              <a:rPr lang="en-IN" sz="15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marL="514350" indent="-285750" algn="just">
              <a:lnSpc>
                <a:spcPct val="115000"/>
              </a:lnSpc>
              <a:spcAft>
                <a:spcPts val="800"/>
              </a:spcAft>
              <a:buFont typeface="Wingdings" panose="05000000000000000000" pitchFamily="2" charset="2"/>
              <a:buChar char="v"/>
            </a:pPr>
            <a:r>
              <a:rPr lang="en-IN" sz="1500" kern="100" dirty="0">
                <a:latin typeface="Times New Roman" panose="02020603050405020304" pitchFamily="18" charset="0"/>
                <a:ea typeface="Calibri" panose="020F0502020204030204" pitchFamily="34" charset="0"/>
                <a:cs typeface="Times New Roman" panose="02020603050405020304" pitchFamily="18" charset="0"/>
              </a:rPr>
              <a:t>The </a:t>
            </a:r>
            <a:r>
              <a:rPr lang="en-IN" sz="1500" kern="100" dirty="0">
                <a:effectLst/>
                <a:latin typeface="Times New Roman" panose="02020603050405020304" pitchFamily="18" charset="0"/>
                <a:ea typeface="Calibri" panose="020F0502020204030204" pitchFamily="34" charset="0"/>
                <a:cs typeface="Times New Roman" panose="02020603050405020304" pitchFamily="18" charset="0"/>
              </a:rPr>
              <a:t>result of </a:t>
            </a:r>
            <a:r>
              <a:rPr lang="en-IN" sz="1500" b="1" i="1" kern="100" dirty="0">
                <a:effectLst/>
                <a:latin typeface="Times New Roman" panose="02020603050405020304" pitchFamily="18" charset="0"/>
                <a:ea typeface="Calibri" panose="020F0502020204030204" pitchFamily="34" charset="0"/>
                <a:cs typeface="Times New Roman" panose="02020603050405020304" pitchFamily="18" charset="0"/>
              </a:rPr>
              <a:t>GPT-3.5-Turbo</a:t>
            </a:r>
            <a:r>
              <a:rPr lang="en-IN" sz="1500" kern="100" dirty="0">
                <a:effectLst/>
                <a:latin typeface="Times New Roman" panose="02020603050405020304" pitchFamily="18" charset="0"/>
                <a:ea typeface="Calibri" panose="020F0502020204030204" pitchFamily="34" charset="0"/>
                <a:cs typeface="Times New Roman" panose="02020603050405020304" pitchFamily="18" charset="0"/>
              </a:rPr>
              <a:t> was preferred due to its faster response time and consistent citation capabilities.</a:t>
            </a:r>
            <a:endParaRPr lang="en-IN" sz="1500" kern="100" dirty="0">
              <a:effectLst/>
              <a:latin typeface="Calibri" panose="020F0502020204030204" pitchFamily="34" charset="0"/>
              <a:ea typeface="Calibri" panose="020F0502020204030204" pitchFamily="34" charset="0"/>
              <a:cs typeface="Times New Roman" panose="02020603050405020304" pitchFamily="18" charset="0"/>
            </a:endParaRPr>
          </a:p>
          <a:p>
            <a:pPr marL="514350" indent="-285750" algn="just">
              <a:lnSpc>
                <a:spcPct val="115000"/>
              </a:lnSpc>
              <a:spcAft>
                <a:spcPts val="800"/>
              </a:spcAft>
              <a:buFont typeface="Wingdings" panose="05000000000000000000" pitchFamily="2" charset="2"/>
              <a:buChar char="v"/>
            </a:pPr>
            <a:r>
              <a:rPr lang="en-IN" sz="1500" kern="100" dirty="0">
                <a:effectLst/>
                <a:latin typeface="Times New Roman" panose="02020603050405020304" pitchFamily="18" charset="0"/>
                <a:ea typeface="Calibri" panose="020F0502020204030204" pitchFamily="34" charset="0"/>
                <a:cs typeface="Times New Roman" panose="02020603050405020304" pitchFamily="18" charset="0"/>
              </a:rPr>
              <a:t>After experimenting with values in the range </a:t>
            </a:r>
            <a:r>
              <a:rPr lang="en-IN" sz="1500" b="1" i="1" kern="100" dirty="0">
                <a:effectLst/>
                <a:latin typeface="Times New Roman" panose="02020603050405020304" pitchFamily="18" charset="0"/>
                <a:ea typeface="Calibri" panose="020F0502020204030204" pitchFamily="34" charset="0"/>
                <a:cs typeface="Times New Roman" panose="02020603050405020304" pitchFamily="18" charset="0"/>
              </a:rPr>
              <a:t>T = {0, 0.1, 0.2, 0.3, 0.4, 0.5}</a:t>
            </a:r>
            <a:r>
              <a:rPr lang="en-IN" sz="1500" b="1"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IN" sz="1500" kern="100" dirty="0">
                <a:effectLst/>
                <a:latin typeface="Times New Roman" panose="02020603050405020304" pitchFamily="18" charset="0"/>
                <a:ea typeface="Calibri" panose="020F0502020204030204" pitchFamily="34" charset="0"/>
                <a:cs typeface="Times New Roman" panose="02020603050405020304" pitchFamily="18" charset="0"/>
              </a:rPr>
              <a:t> it was found that </a:t>
            </a:r>
            <a:r>
              <a:rPr lang="en-IN" sz="1500" b="1" i="1" kern="1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T = 0.3</a:t>
            </a:r>
            <a:r>
              <a:rPr lang="en-IN" sz="1500" kern="1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500" kern="100" dirty="0">
                <a:effectLst/>
                <a:latin typeface="Times New Roman" panose="02020603050405020304" pitchFamily="18" charset="0"/>
                <a:ea typeface="Calibri" panose="020F0502020204030204" pitchFamily="34" charset="0"/>
                <a:cs typeface="Times New Roman" panose="02020603050405020304" pitchFamily="18" charset="0"/>
              </a:rPr>
              <a:t>yielded the most balanced results with accurate and cited responses.</a:t>
            </a:r>
            <a:endParaRPr lang="en-IN" sz="1500" kern="100" dirty="0">
              <a:latin typeface="Times New Roman" panose="02020603050405020304" pitchFamily="18" charset="0"/>
              <a:ea typeface="Calibri" panose="020F0502020204030204" pitchFamily="34" charset="0"/>
              <a:cs typeface="Times New Roman" panose="02020603050405020304" pitchFamily="18" charset="0"/>
            </a:endParaRPr>
          </a:p>
          <a:p>
            <a:pPr marL="514350" indent="-285750" algn="just">
              <a:lnSpc>
                <a:spcPct val="115000"/>
              </a:lnSpc>
              <a:spcAft>
                <a:spcPts val="800"/>
              </a:spcAft>
              <a:buFont typeface="Wingdings" panose="05000000000000000000" pitchFamily="2" charset="2"/>
              <a:buChar char="v"/>
            </a:pPr>
            <a:r>
              <a:rPr lang="en-IN" sz="1500" dirty="0">
                <a:effectLst/>
                <a:latin typeface="Times New Roman" panose="02020603050405020304" pitchFamily="18" charset="0"/>
                <a:ea typeface="Calibri" panose="020F0502020204030204" pitchFamily="34" charset="0"/>
              </a:rPr>
              <a:t> Since labelled data was not available, a zero-shot prompting approach was used. </a:t>
            </a:r>
            <a:endParaRPr lang="en-IN" sz="1500" dirty="0"/>
          </a:p>
        </p:txBody>
      </p:sp>
      <p:sp>
        <p:nvSpPr>
          <p:cNvPr id="7" name="TextBox 6">
            <a:extLst>
              <a:ext uri="{FF2B5EF4-FFF2-40B4-BE49-F238E27FC236}">
                <a16:creationId xmlns:a16="http://schemas.microsoft.com/office/drawing/2014/main" id="{B7968EE9-889C-F8A7-3DE8-752D997D6790}"/>
              </a:ext>
            </a:extLst>
          </p:cNvPr>
          <p:cNvSpPr txBox="1"/>
          <p:nvPr/>
        </p:nvSpPr>
        <p:spPr>
          <a:xfrm>
            <a:off x="245805" y="4272814"/>
            <a:ext cx="6096000" cy="1239955"/>
          </a:xfrm>
          <a:prstGeom prst="rect">
            <a:avLst/>
          </a:prstGeom>
          <a:noFill/>
        </p:spPr>
        <p:txBody>
          <a:bodyPr wrap="square">
            <a:spAutoFit/>
          </a:bodyPr>
          <a:lstStyle/>
          <a:p>
            <a:pPr marL="228600">
              <a:lnSpc>
                <a:spcPct val="115000"/>
              </a:lnSpc>
              <a:spcAft>
                <a:spcPts val="800"/>
              </a:spcAft>
              <a:buNone/>
            </a:pPr>
            <a:r>
              <a:rPr lang="en-IN" sz="15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Prompt:</a:t>
            </a:r>
            <a:r>
              <a:rPr lang="en-IN" sz="1500"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500" i="1" kern="100" dirty="0">
                <a:effectLst/>
                <a:latin typeface="Times New Roman" panose="02020603050405020304" pitchFamily="18" charset="0"/>
                <a:ea typeface="Calibri" panose="020F0502020204030204" pitchFamily="34" charset="0"/>
                <a:cs typeface="Times New Roman" panose="02020603050405020304" pitchFamily="18" charset="0"/>
              </a:rPr>
              <a:t>{“You are a helpful assistant. Use the following sources to answer the question.</a:t>
            </a:r>
            <a:endParaRPr lang="en-IN" sz="15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nSpc>
                <a:spcPct val="115000"/>
              </a:lnSpc>
              <a:spcAft>
                <a:spcPts val="800"/>
              </a:spcAft>
              <a:buNone/>
            </a:pPr>
            <a:r>
              <a:rPr lang="en-IN" sz="1500" i="1" kern="100" dirty="0">
                <a:effectLst/>
                <a:latin typeface="Times New Roman" panose="02020603050405020304" pitchFamily="18" charset="0"/>
                <a:ea typeface="Calibri" panose="020F0502020204030204" pitchFamily="34" charset="0"/>
                <a:cs typeface="Times New Roman" panose="02020603050405020304" pitchFamily="18" charset="0"/>
              </a:rPr>
              <a:t>Always cite the source in the format [[SOURCE: name]]. If the answer is not found, say: "I don't have enough information."}</a:t>
            </a:r>
            <a:endParaRPr lang="en-IN" sz="1500" kern="1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14" name="Group 13">
            <a:extLst>
              <a:ext uri="{FF2B5EF4-FFF2-40B4-BE49-F238E27FC236}">
                <a16:creationId xmlns:a16="http://schemas.microsoft.com/office/drawing/2014/main" id="{1420D9A3-4C80-B561-D878-5BBF3CBBCADB}"/>
              </a:ext>
            </a:extLst>
          </p:cNvPr>
          <p:cNvGrpSpPr/>
          <p:nvPr/>
        </p:nvGrpSpPr>
        <p:grpSpPr>
          <a:xfrm>
            <a:off x="7924799" y="1366684"/>
            <a:ext cx="2861188" cy="3706761"/>
            <a:chOff x="7924799" y="1366684"/>
            <a:chExt cx="2861188" cy="3706761"/>
          </a:xfrm>
        </p:grpSpPr>
        <p:sp>
          <p:nvSpPr>
            <p:cNvPr id="8" name="Rectangle 7">
              <a:extLst>
                <a:ext uri="{FF2B5EF4-FFF2-40B4-BE49-F238E27FC236}">
                  <a16:creationId xmlns:a16="http://schemas.microsoft.com/office/drawing/2014/main" id="{B42F211D-017D-CFB5-0FB8-B44560C5B03F}"/>
                </a:ext>
              </a:extLst>
            </p:cNvPr>
            <p:cNvSpPr/>
            <p:nvPr/>
          </p:nvSpPr>
          <p:spPr>
            <a:xfrm>
              <a:off x="8160775" y="1366684"/>
              <a:ext cx="2281084" cy="835742"/>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Query and Relevant</a:t>
              </a:r>
            </a:p>
            <a:p>
              <a:pPr algn="ctr"/>
              <a:r>
                <a:rPr lang="en-IN" dirty="0">
                  <a:latin typeface="Times New Roman" panose="02020603050405020304" pitchFamily="18" charset="0"/>
                  <a:cs typeface="Times New Roman" panose="02020603050405020304" pitchFamily="18" charset="0"/>
                </a:rPr>
                <a:t>Documents</a:t>
              </a:r>
            </a:p>
          </p:txBody>
        </p:sp>
        <p:sp>
          <p:nvSpPr>
            <p:cNvPr id="9" name="Rectangle 8">
              <a:extLst>
                <a:ext uri="{FF2B5EF4-FFF2-40B4-BE49-F238E27FC236}">
                  <a16:creationId xmlns:a16="http://schemas.microsoft.com/office/drawing/2014/main" id="{124112F3-6087-E10D-28F0-71E35EABAD05}"/>
                </a:ext>
              </a:extLst>
            </p:cNvPr>
            <p:cNvSpPr/>
            <p:nvPr/>
          </p:nvSpPr>
          <p:spPr>
            <a:xfrm>
              <a:off x="7924799" y="2802195"/>
              <a:ext cx="2753033" cy="1012722"/>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LLM Mode</a:t>
              </a:r>
            </a:p>
          </p:txBody>
        </p:sp>
        <p:cxnSp>
          <p:nvCxnSpPr>
            <p:cNvPr id="11" name="Straight Arrow Connector 10">
              <a:extLst>
                <a:ext uri="{FF2B5EF4-FFF2-40B4-BE49-F238E27FC236}">
                  <a16:creationId xmlns:a16="http://schemas.microsoft.com/office/drawing/2014/main" id="{98EC8EDE-4DE4-A4B5-E199-016BC66E2F0E}"/>
                </a:ext>
              </a:extLst>
            </p:cNvPr>
            <p:cNvCxnSpPr>
              <a:stCxn id="8" idx="2"/>
            </p:cNvCxnSpPr>
            <p:nvPr/>
          </p:nvCxnSpPr>
          <p:spPr>
            <a:xfrm flipH="1">
              <a:off x="9301316" y="2202426"/>
              <a:ext cx="1" cy="50144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 name="Straight Arrow Connector 11">
              <a:extLst>
                <a:ext uri="{FF2B5EF4-FFF2-40B4-BE49-F238E27FC236}">
                  <a16:creationId xmlns:a16="http://schemas.microsoft.com/office/drawing/2014/main" id="{159934A2-A368-E277-A290-C6FC806B3832}"/>
                </a:ext>
              </a:extLst>
            </p:cNvPr>
            <p:cNvCxnSpPr/>
            <p:nvPr/>
          </p:nvCxnSpPr>
          <p:spPr>
            <a:xfrm flipH="1">
              <a:off x="9301315" y="3816418"/>
              <a:ext cx="1" cy="50144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3" name="Rectangle 12">
              <a:extLst>
                <a:ext uri="{FF2B5EF4-FFF2-40B4-BE49-F238E27FC236}">
                  <a16:creationId xmlns:a16="http://schemas.microsoft.com/office/drawing/2014/main" id="{1552F912-C2AF-CBBF-42CA-E2A6C8E46CD0}"/>
                </a:ext>
              </a:extLst>
            </p:cNvPr>
            <p:cNvSpPr/>
            <p:nvPr/>
          </p:nvSpPr>
          <p:spPr>
            <a:xfrm>
              <a:off x="7924799" y="4424516"/>
              <a:ext cx="2861188" cy="64892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Response</a:t>
              </a:r>
            </a:p>
          </p:txBody>
        </p:sp>
      </p:grpSp>
      <p:sp>
        <p:nvSpPr>
          <p:cNvPr id="15" name="TextBox 14">
            <a:extLst>
              <a:ext uri="{FF2B5EF4-FFF2-40B4-BE49-F238E27FC236}">
                <a16:creationId xmlns:a16="http://schemas.microsoft.com/office/drawing/2014/main" id="{95A7A743-EDBE-1C8B-D408-7940C96F3368}"/>
              </a:ext>
            </a:extLst>
          </p:cNvPr>
          <p:cNvSpPr txBox="1"/>
          <p:nvPr/>
        </p:nvSpPr>
        <p:spPr>
          <a:xfrm>
            <a:off x="6692004" y="5345667"/>
            <a:ext cx="4702328" cy="291298"/>
          </a:xfrm>
          <a:prstGeom prst="rect">
            <a:avLst/>
          </a:prstGeom>
          <a:noFill/>
        </p:spPr>
        <p:txBody>
          <a:bodyPr wrap="square">
            <a:spAutoFit/>
          </a:bodyPr>
          <a:lstStyle/>
          <a:p>
            <a:pPr algn="ctr">
              <a:lnSpc>
                <a:spcPct val="115000"/>
              </a:lnSpc>
              <a:spcAft>
                <a:spcPts val="800"/>
              </a:spcAft>
              <a:buNone/>
            </a:pP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Figure </a:t>
            </a:r>
            <a:r>
              <a:rPr lang="en-IN" sz="1200" b="1" kern="100" dirty="0">
                <a:latin typeface="Times New Roman" panose="02020603050405020304" pitchFamily="18" charset="0"/>
                <a:ea typeface="Calibri" panose="020F0502020204030204" pitchFamily="34" charset="0"/>
                <a:cs typeface="Times New Roman" panose="02020603050405020304" pitchFamily="18" charset="0"/>
              </a:rPr>
              <a:t>4</a:t>
            </a:r>
            <a:r>
              <a:rPr lang="en-IN" sz="1200" b="1"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200" kern="100" dirty="0">
                <a:latin typeface="Times New Roman" panose="02020603050405020304" pitchFamily="18" charset="0"/>
                <a:ea typeface="Calibri" panose="020F0502020204030204" pitchFamily="34" charset="0"/>
                <a:cs typeface="Times New Roman" panose="02020603050405020304" pitchFamily="18" charset="0"/>
              </a:rPr>
              <a:t>Generation</a:t>
            </a:r>
            <a:r>
              <a:rPr lang="en-IN" sz="1200" kern="100" dirty="0">
                <a:effectLst/>
                <a:latin typeface="Times New Roman" panose="02020603050405020304" pitchFamily="18" charset="0"/>
                <a:ea typeface="Calibri" panose="020F0502020204030204" pitchFamily="34" charset="0"/>
                <a:cs typeface="Times New Roman" panose="02020603050405020304" pitchFamily="18" charset="0"/>
              </a:rPr>
              <a:t> system</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56711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randombar(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randombar(horizontal)">
                                      <p:cBhvr>
                                        <p:cTn id="22" dur="500"/>
                                        <p:tgtEl>
                                          <p:spTgt spid="14"/>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randombar(horizontal)">
                                      <p:cBhvr>
                                        <p:cTn id="2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P spid="1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4287E-12D2-5317-CFDA-606ABBF8CC3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C01DBF5-9F08-6BC7-E604-68A6C7D99B5E}"/>
              </a:ext>
            </a:extLst>
          </p:cNvPr>
          <p:cNvSpPr>
            <a:spLocks noGrp="1"/>
          </p:cNvSpPr>
          <p:nvPr>
            <p:ph type="title"/>
          </p:nvPr>
        </p:nvSpPr>
        <p:spPr>
          <a:xfrm>
            <a:off x="341670" y="223684"/>
            <a:ext cx="6698226" cy="685800"/>
          </a:xfrm>
        </p:spPr>
        <p:txBody>
          <a:bodyPr>
            <a:noAutofit/>
          </a:bodyPr>
          <a:lstStyle/>
          <a:p>
            <a:r>
              <a:rPr lang="en-US" sz="2400" b="1" dirty="0">
                <a:solidFill>
                  <a:srgbClr val="180EE2"/>
                </a:solidFill>
                <a:latin typeface="Times New Roman" panose="02020603050405020304" pitchFamily="18" charset="0"/>
                <a:cs typeface="Times New Roman" panose="02020603050405020304" pitchFamily="18" charset="0"/>
              </a:rPr>
              <a:t>7. </a:t>
            </a:r>
            <a:r>
              <a:rPr lang="en-IN" sz="2400" b="1" dirty="0">
                <a:solidFill>
                  <a:srgbClr val="0000FF"/>
                </a:solidFill>
                <a:latin typeface="Times New Roman" panose="02020603050405020304" pitchFamily="18" charset="0"/>
                <a:cs typeface="Times New Roman" panose="02020603050405020304" pitchFamily="18" charset="0"/>
              </a:rPr>
              <a:t>Model Evaluation</a:t>
            </a:r>
            <a:endParaRPr lang="en-US" sz="2400" b="1" dirty="0">
              <a:solidFill>
                <a:srgbClr val="0000FF"/>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1446136-387B-1380-5E88-4027C5F7A0C9}"/>
              </a:ext>
            </a:extLst>
          </p:cNvPr>
          <p:cNvSpPr txBox="1"/>
          <p:nvPr/>
        </p:nvSpPr>
        <p:spPr>
          <a:xfrm>
            <a:off x="216309" y="789884"/>
            <a:ext cx="6096000" cy="390684"/>
          </a:xfrm>
          <a:prstGeom prst="rect">
            <a:avLst/>
          </a:prstGeom>
          <a:noFill/>
        </p:spPr>
        <p:txBody>
          <a:bodyPr wrap="square">
            <a:spAutoFit/>
          </a:bodyPr>
          <a:lstStyle/>
          <a:p>
            <a:pPr marL="228600" algn="just">
              <a:lnSpc>
                <a:spcPct val="115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The following metrics used to evaluate the model:</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FC97C3ED-3E25-08D5-94CD-26F486A4389F}"/>
              </a:ext>
            </a:extLst>
          </p:cNvPr>
          <p:cNvSpPr txBox="1"/>
          <p:nvPr/>
        </p:nvSpPr>
        <p:spPr>
          <a:xfrm>
            <a:off x="216309" y="1180568"/>
            <a:ext cx="6096000" cy="2076722"/>
          </a:xfrm>
          <a:prstGeom prst="rect">
            <a:avLst/>
          </a:prstGeom>
          <a:noFill/>
        </p:spPr>
        <p:txBody>
          <a:bodyPr wrap="square">
            <a:spAutoFit/>
          </a:bodyPr>
          <a:lstStyle/>
          <a:p>
            <a:pPr marL="571500" indent="-342900" algn="just">
              <a:lnSpc>
                <a:spcPct val="115000"/>
              </a:lnSpc>
              <a:spcAft>
                <a:spcPts val="800"/>
              </a:spcAft>
              <a:buAutoNum type="arabicPeriod"/>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RAGAS: </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ragas score, faithfulness, answer relevance</a:t>
            </a:r>
          </a:p>
          <a:p>
            <a:pPr marL="571500" indent="-342900" algn="just">
              <a:lnSpc>
                <a:spcPct val="115000"/>
              </a:lnSpc>
              <a:spcAft>
                <a:spcPts val="800"/>
              </a:spcAft>
              <a:buAutoNum type="arabicPeriod"/>
            </a:pPr>
            <a:r>
              <a:rPr lang="en-IN" b="1" kern="100" dirty="0">
                <a:solidFill>
                  <a:srgbClr val="FFC000"/>
                </a:solidFill>
                <a:latin typeface="Times New Roman" panose="02020603050405020304" pitchFamily="18" charset="0"/>
                <a:ea typeface="Calibri" panose="020F0502020204030204" pitchFamily="34" charset="0"/>
                <a:cs typeface="Times New Roman" panose="02020603050405020304" pitchFamily="18" charset="0"/>
              </a:rPr>
              <a:t>Hallucination detection</a:t>
            </a:r>
          </a:p>
          <a:p>
            <a:pPr marL="571500" indent="-342900" algn="just">
              <a:lnSpc>
                <a:spcPct val="115000"/>
              </a:lnSpc>
              <a:spcAft>
                <a:spcPts val="800"/>
              </a:spcAft>
              <a:buAutoNum type="arabicPeriod"/>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ROUGE score: </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ROUGE-1, ROUGE-2, ROUGE-L</a:t>
            </a:r>
          </a:p>
          <a:p>
            <a:pPr marL="571500" indent="-342900" algn="just">
              <a:lnSpc>
                <a:spcPct val="115000"/>
              </a:lnSpc>
              <a:spcAft>
                <a:spcPts val="800"/>
              </a:spcAft>
              <a:buAutoNum type="arabicPeriod"/>
            </a:pPr>
            <a:r>
              <a:rPr lang="en-IN" b="1"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BLEU score</a:t>
            </a:r>
          </a:p>
          <a:p>
            <a:pPr marL="571500" indent="-342900" algn="just">
              <a:lnSpc>
                <a:spcPct val="115000"/>
              </a:lnSpc>
              <a:spcAft>
                <a:spcPts val="800"/>
              </a:spcAft>
              <a:buAutoNum type="arabicPeriod"/>
            </a:pPr>
            <a:r>
              <a:rPr lang="en-IN" sz="1800" b="1" kern="1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Proxy question similarity score </a:t>
            </a:r>
            <a:endParaRPr lang="en-IN" sz="1800" b="1" kern="100" dirty="0">
              <a:solidFill>
                <a:srgbClr val="7030A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itle 1">
            <a:extLst>
              <a:ext uri="{FF2B5EF4-FFF2-40B4-BE49-F238E27FC236}">
                <a16:creationId xmlns:a16="http://schemas.microsoft.com/office/drawing/2014/main" id="{A33AF74E-EBA5-22A6-247D-FCD366883BA9}"/>
              </a:ext>
            </a:extLst>
          </p:cNvPr>
          <p:cNvSpPr txBox="1">
            <a:spLocks/>
          </p:cNvSpPr>
          <p:nvPr/>
        </p:nvSpPr>
        <p:spPr>
          <a:xfrm>
            <a:off x="464574" y="3557871"/>
            <a:ext cx="6698226" cy="6858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solidFill>
                  <a:srgbClr val="180EE2"/>
                </a:solidFill>
                <a:latin typeface="Times New Roman" panose="02020603050405020304" pitchFamily="18" charset="0"/>
                <a:cs typeface="Times New Roman" panose="02020603050405020304" pitchFamily="18" charset="0"/>
              </a:rPr>
              <a:t>8. </a:t>
            </a:r>
            <a:r>
              <a:rPr lang="en-IN" sz="2400" b="1" dirty="0">
                <a:solidFill>
                  <a:srgbClr val="0000FF"/>
                </a:solidFill>
                <a:latin typeface="Times New Roman" panose="02020603050405020304" pitchFamily="18" charset="0"/>
                <a:cs typeface="Times New Roman" panose="02020603050405020304" pitchFamily="18" charset="0"/>
              </a:rPr>
              <a:t>Retrieval System Evaluation</a:t>
            </a:r>
            <a:endParaRPr lang="en-US" sz="2400" b="1" dirty="0">
              <a:solidFill>
                <a:srgbClr val="0000FF"/>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04926C5E-6C5A-8846-0751-185492B8A6BD}"/>
              </a:ext>
            </a:extLst>
          </p:cNvPr>
          <p:cNvSpPr txBox="1"/>
          <p:nvPr/>
        </p:nvSpPr>
        <p:spPr>
          <a:xfrm>
            <a:off x="216309" y="4273462"/>
            <a:ext cx="6096000" cy="390684"/>
          </a:xfrm>
          <a:prstGeom prst="rect">
            <a:avLst/>
          </a:prstGeom>
          <a:noFill/>
        </p:spPr>
        <p:txBody>
          <a:bodyPr wrap="square">
            <a:spAutoFit/>
          </a:bodyPr>
          <a:lstStyle/>
          <a:p>
            <a:pPr marL="228600" algn="just">
              <a:lnSpc>
                <a:spcPct val="115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The following metrics used to evaluate the retrieval system:</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ADD73C26-3035-618E-CBBC-B77915C37F40}"/>
              </a:ext>
            </a:extLst>
          </p:cNvPr>
          <p:cNvSpPr txBox="1"/>
          <p:nvPr/>
        </p:nvSpPr>
        <p:spPr>
          <a:xfrm>
            <a:off x="216309" y="4840472"/>
            <a:ext cx="6096000" cy="1227644"/>
          </a:xfrm>
          <a:prstGeom prst="rect">
            <a:avLst/>
          </a:prstGeom>
          <a:noFill/>
        </p:spPr>
        <p:txBody>
          <a:bodyPr wrap="square">
            <a:spAutoFit/>
          </a:bodyPr>
          <a:lstStyle/>
          <a:p>
            <a:pPr marL="571500" indent="-342900" algn="just">
              <a:lnSpc>
                <a:spcPct val="115000"/>
              </a:lnSpc>
              <a:spcAft>
                <a:spcPts val="800"/>
              </a:spcAft>
              <a:buAutoNum type="arabicPeriod"/>
            </a:pPr>
            <a:r>
              <a:rPr lang="en-IN" kern="100" dirty="0">
                <a:latin typeface="Times New Roman" panose="02020603050405020304" pitchFamily="18" charset="0"/>
                <a:ea typeface="Calibri" panose="020F0502020204030204" pitchFamily="34" charset="0"/>
                <a:cs typeface="Times New Roman" panose="02020603050405020304" pitchFamily="18" charset="0"/>
              </a:rPr>
              <a:t>Semantic similarity scoring</a:t>
            </a:r>
          </a:p>
          <a:p>
            <a:pPr marL="571500" indent="-342900" algn="just">
              <a:lnSpc>
                <a:spcPct val="115000"/>
              </a:lnSpc>
              <a:spcAft>
                <a:spcPts val="800"/>
              </a:spcAft>
              <a:buAutoNum type="arabicPeriod"/>
            </a:pPr>
            <a:r>
              <a:rPr lang="en-IN" b="1" kern="100"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Keyword coverage Score</a:t>
            </a:r>
          </a:p>
          <a:p>
            <a:pPr marL="571500" indent="-342900" algn="just">
              <a:lnSpc>
                <a:spcPct val="115000"/>
              </a:lnSpc>
              <a:spcAft>
                <a:spcPts val="800"/>
              </a:spcAft>
              <a:buAutoNum type="arabicPeriod"/>
            </a:pPr>
            <a:r>
              <a:rPr lang="en-IN" b="1" kern="100" dirty="0">
                <a:solidFill>
                  <a:srgbClr val="00B0F0"/>
                </a:solidFill>
                <a:latin typeface="Times New Roman" panose="02020603050405020304" pitchFamily="18" charset="0"/>
                <a:ea typeface="Calibri" panose="020F0502020204030204" pitchFamily="34" charset="0"/>
                <a:cs typeface="Times New Roman" panose="02020603050405020304" pitchFamily="18" charset="0"/>
              </a:rPr>
              <a:t>Content density score</a:t>
            </a:r>
          </a:p>
        </p:txBody>
      </p:sp>
    </p:spTree>
    <p:extLst>
      <p:ext uri="{BB962C8B-B14F-4D97-AF65-F5344CB8AC3E}">
        <p14:creationId xmlns:p14="http://schemas.microsoft.com/office/powerpoint/2010/main" val="4138885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randombar(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randombar(horizont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randombar(horizontal)">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randombar(horizontal)">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randombar(horizontal)">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P spid="6" grpId="0"/>
      <p:bldP spid="8" grpId="0"/>
      <p:bldP spid="9" grpId="0"/>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56C32-7242-4DCE-63BD-C54EA677D2D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57BE0C8-42C5-9070-068D-8DB01BD3FEE3}"/>
              </a:ext>
            </a:extLst>
          </p:cNvPr>
          <p:cNvSpPr>
            <a:spLocks noGrp="1"/>
          </p:cNvSpPr>
          <p:nvPr>
            <p:ph type="title"/>
          </p:nvPr>
        </p:nvSpPr>
        <p:spPr>
          <a:xfrm>
            <a:off x="322006" y="194187"/>
            <a:ext cx="6698226" cy="685800"/>
          </a:xfrm>
        </p:spPr>
        <p:txBody>
          <a:bodyPr>
            <a:noAutofit/>
          </a:bodyPr>
          <a:lstStyle/>
          <a:p>
            <a:r>
              <a:rPr lang="en-US" sz="2400" b="1" dirty="0">
                <a:solidFill>
                  <a:srgbClr val="180EE2"/>
                </a:solidFill>
                <a:latin typeface="Times New Roman" panose="02020603050405020304" pitchFamily="18" charset="0"/>
                <a:cs typeface="Times New Roman" panose="02020603050405020304" pitchFamily="18" charset="0"/>
              </a:rPr>
              <a:t>9. </a:t>
            </a:r>
            <a:r>
              <a:rPr lang="en-IN" sz="2400" b="1" dirty="0">
                <a:solidFill>
                  <a:srgbClr val="0000FF"/>
                </a:solidFill>
                <a:latin typeface="Times New Roman" panose="02020603050405020304" pitchFamily="18" charset="0"/>
                <a:cs typeface="Times New Roman" panose="02020603050405020304" pitchFamily="18" charset="0"/>
              </a:rPr>
              <a:t>Result and Discussion </a:t>
            </a:r>
            <a:endParaRPr lang="en-US" sz="2400" b="1" dirty="0">
              <a:solidFill>
                <a:srgbClr val="0000FF"/>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49B3E8F-3177-816A-3CBC-6391C6FAFE14}"/>
              </a:ext>
            </a:extLst>
          </p:cNvPr>
          <p:cNvSpPr txBox="1"/>
          <p:nvPr/>
        </p:nvSpPr>
        <p:spPr>
          <a:xfrm>
            <a:off x="216308" y="1026351"/>
            <a:ext cx="10176389" cy="336502"/>
          </a:xfrm>
          <a:prstGeom prst="rect">
            <a:avLst/>
          </a:prstGeom>
          <a:noFill/>
        </p:spPr>
        <p:txBody>
          <a:bodyPr wrap="square">
            <a:spAutoFit/>
          </a:bodyPr>
          <a:lstStyle/>
          <a:p>
            <a:pPr marL="228600" algn="just">
              <a:lnSpc>
                <a:spcPct val="115000"/>
              </a:lnSpc>
              <a:spcAft>
                <a:spcPts val="800"/>
              </a:spcAft>
              <a:buNone/>
            </a:pPr>
            <a:r>
              <a:rPr lang="en-IN" sz="1500" dirty="0">
                <a:latin typeface="Times New Roman" panose="02020603050405020304" pitchFamily="18" charset="0"/>
                <a:cs typeface="Times New Roman" panose="02020603050405020304" pitchFamily="18" charset="0"/>
              </a:rPr>
              <a:t>In order to evaluate the performance of the chatbot system in real-time, we provided two sets of questions. </a:t>
            </a:r>
            <a:endParaRPr lang="en-IN" sz="15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2E8F6A82-4517-27C8-5DE9-6FB9E379B92E}"/>
              </a:ext>
            </a:extLst>
          </p:cNvPr>
          <p:cNvSpPr txBox="1"/>
          <p:nvPr/>
        </p:nvSpPr>
        <p:spPr>
          <a:xfrm>
            <a:off x="216308" y="1705861"/>
            <a:ext cx="5663385" cy="4324069"/>
          </a:xfrm>
          <a:prstGeom prst="rect">
            <a:avLst/>
          </a:prstGeom>
          <a:noFill/>
        </p:spPr>
        <p:txBody>
          <a:bodyPr wrap="square">
            <a:spAutoFit/>
          </a:bodyPr>
          <a:lstStyle/>
          <a:p>
            <a:pPr lvl="0" algn="just">
              <a:lnSpc>
                <a:spcPct val="115000"/>
              </a:lnSpc>
            </a:pPr>
            <a:r>
              <a:rPr lang="en-IN" sz="15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Set A-Question (Related to the Dataset):</a:t>
            </a:r>
          </a:p>
          <a:p>
            <a:pPr lvl="0" algn="just">
              <a:lnSpc>
                <a:spcPct val="115000"/>
              </a:lnSpc>
            </a:pPr>
            <a:endParaRPr lang="en-IN" sz="1500" b="1" kern="100"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IN" sz="1500" i="1" kern="100" dirty="0">
                <a:effectLst/>
                <a:latin typeface="Times New Roman" panose="02020603050405020304" pitchFamily="18" charset="0"/>
                <a:ea typeface="Calibri" panose="020F0502020204030204" pitchFamily="34" charset="0"/>
                <a:cs typeface="Times New Roman" panose="02020603050405020304" pitchFamily="18" charset="0"/>
              </a:rPr>
              <a:t>What purpose did the tales of ancient Greek heroes serve beyond entertainment?</a:t>
            </a:r>
            <a:endParaRPr lang="en-IN" sz="1500" kern="100"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IN" sz="1500" i="1" kern="100" dirty="0">
                <a:effectLst/>
                <a:latin typeface="Times New Roman" panose="02020603050405020304" pitchFamily="18" charset="0"/>
                <a:ea typeface="Calibri" panose="020F0502020204030204" pitchFamily="34" charset="0"/>
                <a:cs typeface="Times New Roman" panose="02020603050405020304" pitchFamily="18" charset="0"/>
              </a:rPr>
              <a:t>How are Heracles's Twelve Labors interpreted symbolically?</a:t>
            </a:r>
            <a:endParaRPr lang="en-IN" sz="1500" kern="100"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IN" sz="1500" i="1" kern="100" dirty="0">
                <a:effectLst/>
                <a:latin typeface="Times New Roman" panose="02020603050405020304" pitchFamily="18" charset="0"/>
                <a:ea typeface="Calibri" panose="020F0502020204030204" pitchFamily="34" charset="0"/>
                <a:cs typeface="Times New Roman" panose="02020603050405020304" pitchFamily="18" charset="0"/>
              </a:rPr>
              <a:t> Who were the main leaders of the Persian Empire during the Persian Wars?</a:t>
            </a:r>
            <a:endParaRPr lang="en-IN" sz="1500" kern="100"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IN" sz="1500" i="1" kern="100" dirty="0">
                <a:effectLst/>
                <a:latin typeface="Times New Roman" panose="02020603050405020304" pitchFamily="18" charset="0"/>
                <a:ea typeface="Calibri" panose="020F0502020204030204" pitchFamily="34" charset="0"/>
                <a:cs typeface="Times New Roman" panose="02020603050405020304" pitchFamily="18" charset="0"/>
              </a:rPr>
              <a:t>Which Persian ruler led the full-scale invasion of Greece in 490 BCE?</a:t>
            </a:r>
            <a:endParaRPr lang="en-IN" sz="1500" kern="100"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IN" sz="1500" i="1" kern="100" dirty="0">
                <a:effectLst/>
                <a:latin typeface="Times New Roman" panose="02020603050405020304" pitchFamily="18" charset="0"/>
                <a:ea typeface="Calibri" panose="020F0502020204030204" pitchFamily="34" charset="0"/>
                <a:cs typeface="Times New Roman" panose="02020603050405020304" pitchFamily="18" charset="0"/>
              </a:rPr>
              <a:t>What is one of the most enduring political contributions of Ancient Greece?</a:t>
            </a:r>
            <a:endParaRPr lang="en-IN" sz="1500" kern="100"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IN" sz="1500" i="1" kern="100" dirty="0">
                <a:effectLst/>
                <a:latin typeface="Times New Roman" panose="02020603050405020304" pitchFamily="18" charset="0"/>
                <a:ea typeface="Calibri" panose="020F0502020204030204" pitchFamily="34" charset="0"/>
                <a:cs typeface="Times New Roman" panose="02020603050405020304" pitchFamily="18" charset="0"/>
              </a:rPr>
              <a:t>What were some areas that Aristotle contributed to?</a:t>
            </a:r>
            <a:endParaRPr lang="en-IN" sz="1500" kern="100"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IN" sz="1500" i="1" kern="100" dirty="0">
                <a:effectLst/>
                <a:latin typeface="Times New Roman" panose="02020603050405020304" pitchFamily="18" charset="0"/>
                <a:ea typeface="Calibri" panose="020F0502020204030204" pitchFamily="34" charset="0"/>
                <a:cs typeface="Times New Roman" panose="02020603050405020304" pitchFamily="18" charset="0"/>
              </a:rPr>
              <a:t>Which Ancient Greek philosopher introduced the concept of "ideal forms"?</a:t>
            </a:r>
          </a:p>
          <a:p>
            <a:pPr marL="285750" lvl="0" indent="-285750" algn="just">
              <a:lnSpc>
                <a:spcPct val="115000"/>
              </a:lnSpc>
              <a:buFont typeface="Wingdings" panose="05000000000000000000" pitchFamily="2" charset="2"/>
              <a:buChar char="v"/>
            </a:pPr>
            <a:r>
              <a:rPr lang="en-IN" sz="1500" i="1" kern="100" dirty="0">
                <a:effectLst/>
                <a:latin typeface="Times New Roman" panose="02020603050405020304" pitchFamily="18" charset="0"/>
                <a:ea typeface="Calibri" panose="020F0502020204030204" pitchFamily="34" charset="0"/>
                <a:cs typeface="Times New Roman" panose="02020603050405020304" pitchFamily="18" charset="0"/>
              </a:rPr>
              <a:t>Which year the Alexander was born?</a:t>
            </a:r>
            <a:endParaRPr lang="en-IN" sz="15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buFont typeface="+mj-lt"/>
              <a:buAutoNum type="alphaLcPeriod"/>
            </a:pPr>
            <a:endParaRPr lang="en-IN" sz="15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B1882FAD-83D5-64D4-951B-92B690EF69C5}"/>
              </a:ext>
            </a:extLst>
          </p:cNvPr>
          <p:cNvSpPr txBox="1"/>
          <p:nvPr/>
        </p:nvSpPr>
        <p:spPr>
          <a:xfrm>
            <a:off x="6312309" y="1715692"/>
            <a:ext cx="5565059" cy="3526478"/>
          </a:xfrm>
          <a:prstGeom prst="rect">
            <a:avLst/>
          </a:prstGeom>
          <a:noFill/>
        </p:spPr>
        <p:txBody>
          <a:bodyPr wrap="square">
            <a:spAutoFit/>
          </a:bodyPr>
          <a:lstStyle/>
          <a:p>
            <a:pPr lvl="0" algn="just">
              <a:lnSpc>
                <a:spcPct val="115000"/>
              </a:lnSpc>
            </a:pPr>
            <a:r>
              <a:rPr lang="en-IN" sz="1500" b="1" kern="100"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rPr>
              <a:t>Set B-Questions (Not Related to the Dataset)</a:t>
            </a:r>
          </a:p>
          <a:p>
            <a:pPr lvl="0" algn="just">
              <a:lnSpc>
                <a:spcPct val="115000"/>
              </a:lnSpc>
            </a:pPr>
            <a:endParaRPr lang="en-IN" sz="1500" b="1"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IN" sz="1500" i="1" kern="100" dirty="0">
                <a:effectLst/>
                <a:latin typeface="Times New Roman" panose="02020603050405020304" pitchFamily="18" charset="0"/>
                <a:ea typeface="Calibri" panose="020F0502020204030204" pitchFamily="34" charset="0"/>
                <a:cs typeface="Times New Roman" panose="02020603050405020304" pitchFamily="18" charset="0"/>
              </a:rPr>
              <a:t>Explain the attention mechanism in transformers?</a:t>
            </a:r>
            <a:endParaRPr lang="en-IN" sz="1500" kern="100"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IN" sz="1500" i="1" kern="100" dirty="0">
                <a:effectLst/>
                <a:latin typeface="Times New Roman" panose="02020603050405020304" pitchFamily="18" charset="0"/>
                <a:ea typeface="Calibri" panose="020F0502020204030204" pitchFamily="34" charset="0"/>
                <a:cs typeface="Times New Roman" panose="02020603050405020304" pitchFamily="18" charset="0"/>
              </a:rPr>
              <a:t>What are the key differences between generative AI and traditional AI?</a:t>
            </a:r>
            <a:endParaRPr lang="en-IN" sz="1500" kern="100"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IN" sz="1500" i="1" kern="100" dirty="0">
                <a:effectLst/>
                <a:latin typeface="Times New Roman" panose="02020603050405020304" pitchFamily="18" charset="0"/>
                <a:ea typeface="Calibri" panose="020F0502020204030204" pitchFamily="34" charset="0"/>
                <a:cs typeface="Times New Roman" panose="02020603050405020304" pitchFamily="18" charset="0"/>
              </a:rPr>
              <a:t>What are foundation models, and why are they important in modern AI development?</a:t>
            </a:r>
            <a:endParaRPr lang="en-IN" sz="1500" kern="100"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IN" sz="1500" i="1" kern="100" dirty="0">
                <a:effectLst/>
                <a:latin typeface="Times New Roman" panose="02020603050405020304" pitchFamily="18" charset="0"/>
                <a:ea typeface="Calibri" panose="020F0502020204030204" pitchFamily="34" charset="0"/>
                <a:cs typeface="Times New Roman" panose="02020603050405020304" pitchFamily="18" charset="0"/>
              </a:rPr>
              <a:t>Who is the CEO of SpaceX?</a:t>
            </a:r>
            <a:endParaRPr lang="en-IN" sz="1500" kern="100"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IN" sz="1500" i="1" kern="100" dirty="0">
                <a:effectLst/>
                <a:latin typeface="Times New Roman" panose="02020603050405020304" pitchFamily="18" charset="0"/>
                <a:ea typeface="Calibri" panose="020F0502020204030204" pitchFamily="34" charset="0"/>
                <a:cs typeface="Times New Roman" panose="02020603050405020304" pitchFamily="18" charset="0"/>
              </a:rPr>
              <a:t>What is the current GDP of India?</a:t>
            </a:r>
            <a:endParaRPr lang="en-IN" sz="1500" kern="100"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IN" sz="1500" i="1" kern="100" dirty="0">
                <a:effectLst/>
                <a:latin typeface="Times New Roman" panose="02020603050405020304" pitchFamily="18" charset="0"/>
                <a:ea typeface="Calibri" panose="020F0502020204030204" pitchFamily="34" charset="0"/>
                <a:cs typeface="Times New Roman" panose="02020603050405020304" pitchFamily="18" charset="0"/>
              </a:rPr>
              <a:t>How is AI being applied in financial fraud detection and risk analysis?</a:t>
            </a:r>
            <a:endParaRPr lang="en-IN" sz="1500" kern="100" dirty="0">
              <a:latin typeface="Calibri" panose="020F0502020204030204" pitchFamily="34" charset="0"/>
              <a:ea typeface="Calibri" panose="020F050202020403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IN" sz="1500" i="1" kern="100" dirty="0">
                <a:effectLst/>
                <a:latin typeface="Times New Roman" panose="02020603050405020304" pitchFamily="18" charset="0"/>
                <a:ea typeface="Calibri" panose="020F0502020204030204" pitchFamily="34" charset="0"/>
                <a:cs typeface="Times New Roman" panose="02020603050405020304" pitchFamily="18" charset="0"/>
              </a:rPr>
              <a:t>What are the advantages and risks of using Retrieval-Augmented Generation (RAG) in production systems?</a:t>
            </a:r>
            <a:endParaRPr lang="en-IN" sz="1500" dirty="0"/>
          </a:p>
        </p:txBody>
      </p:sp>
    </p:spTree>
    <p:extLst>
      <p:ext uri="{BB962C8B-B14F-4D97-AF65-F5344CB8AC3E}">
        <p14:creationId xmlns:p14="http://schemas.microsoft.com/office/powerpoint/2010/main" val="317048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randombar(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randombar(horizont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randombar(horizontal)">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P spid="5"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64DE2-8793-9F90-9D7D-46293C92D79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D24EE53-6BA0-6A21-7C9A-6CD2B1558987}"/>
              </a:ext>
            </a:extLst>
          </p:cNvPr>
          <p:cNvSpPr>
            <a:spLocks noGrp="1"/>
          </p:cNvSpPr>
          <p:nvPr>
            <p:ph type="title"/>
          </p:nvPr>
        </p:nvSpPr>
        <p:spPr>
          <a:xfrm>
            <a:off x="322006" y="194187"/>
            <a:ext cx="6698226" cy="685800"/>
          </a:xfrm>
        </p:spPr>
        <p:txBody>
          <a:bodyPr>
            <a:noAutofit/>
          </a:bodyPr>
          <a:lstStyle/>
          <a:p>
            <a:r>
              <a:rPr lang="en-US" sz="2400" b="1" dirty="0">
                <a:solidFill>
                  <a:srgbClr val="180EE2"/>
                </a:solidFill>
                <a:latin typeface="Times New Roman" panose="02020603050405020304" pitchFamily="18" charset="0"/>
                <a:cs typeface="Times New Roman" panose="02020603050405020304" pitchFamily="18" charset="0"/>
              </a:rPr>
              <a:t>Output of Set-A Questions</a:t>
            </a:r>
            <a:endParaRPr lang="en-US" sz="2400" b="1" dirty="0">
              <a:solidFill>
                <a:srgbClr val="0000FF"/>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77CE48C-D37D-C848-7588-F6AE5B792B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2006" y="993058"/>
            <a:ext cx="5265078" cy="5670755"/>
          </a:xfrm>
          <a:prstGeom prst="rect">
            <a:avLst/>
          </a:prstGeom>
        </p:spPr>
      </p:pic>
      <p:pic>
        <p:nvPicPr>
          <p:cNvPr id="8" name="Picture 7">
            <a:extLst>
              <a:ext uri="{FF2B5EF4-FFF2-40B4-BE49-F238E27FC236}">
                <a16:creationId xmlns:a16="http://schemas.microsoft.com/office/drawing/2014/main" id="{B9A4F3DB-5AB4-03AD-E4BE-2084404347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87084" y="805243"/>
            <a:ext cx="6404434" cy="5858569"/>
          </a:xfrm>
          <a:prstGeom prst="rect">
            <a:avLst/>
          </a:prstGeom>
        </p:spPr>
      </p:pic>
    </p:spTree>
    <p:extLst>
      <p:ext uri="{BB962C8B-B14F-4D97-AF65-F5344CB8AC3E}">
        <p14:creationId xmlns:p14="http://schemas.microsoft.com/office/powerpoint/2010/main" val="389140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randombar(horizontal)">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1F386-1499-FE81-4D3F-2E9B20C6E38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CD46078-44C0-630B-FEAC-EFD0B9961A1B}"/>
              </a:ext>
            </a:extLst>
          </p:cNvPr>
          <p:cNvSpPr>
            <a:spLocks noGrp="1"/>
          </p:cNvSpPr>
          <p:nvPr>
            <p:ph type="title"/>
          </p:nvPr>
        </p:nvSpPr>
        <p:spPr>
          <a:xfrm>
            <a:off x="322006" y="194187"/>
            <a:ext cx="6698226" cy="685800"/>
          </a:xfrm>
        </p:spPr>
        <p:txBody>
          <a:bodyPr>
            <a:noAutofit/>
          </a:bodyPr>
          <a:lstStyle/>
          <a:p>
            <a:r>
              <a:rPr lang="en-US" sz="2400" b="1" dirty="0">
                <a:solidFill>
                  <a:srgbClr val="180EE2"/>
                </a:solidFill>
                <a:latin typeface="Times New Roman" panose="02020603050405020304" pitchFamily="18" charset="0"/>
                <a:cs typeface="Times New Roman" panose="02020603050405020304" pitchFamily="18" charset="0"/>
              </a:rPr>
              <a:t>Output of Set-A Questions</a:t>
            </a:r>
            <a:endParaRPr lang="en-US" sz="2400" b="1" dirty="0">
              <a:solidFill>
                <a:srgbClr val="0000FF"/>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3DCEAE00-7626-109D-FAA2-235FFBA7CC0A}"/>
              </a:ext>
            </a:extLst>
          </p:cNvPr>
          <p:cNvPicPr>
            <a:picLocks noChangeAspect="1"/>
          </p:cNvPicPr>
          <p:nvPr/>
        </p:nvPicPr>
        <p:blipFill>
          <a:blip r:embed="rId3">
            <a:extLst>
              <a:ext uri="{28A0092B-C50C-407E-A947-70E740481C1C}">
                <a14:useLocalDpi xmlns:a14="http://schemas.microsoft.com/office/drawing/2010/main" val="0"/>
              </a:ext>
            </a:extLst>
          </a:blip>
          <a:srcRect l="7258" r="13068"/>
          <a:stretch>
            <a:fillRect/>
          </a:stretch>
        </p:blipFill>
        <p:spPr>
          <a:xfrm>
            <a:off x="403123" y="861400"/>
            <a:ext cx="5309420" cy="5508294"/>
          </a:xfrm>
          <a:prstGeom prst="rect">
            <a:avLst/>
          </a:prstGeom>
        </p:spPr>
      </p:pic>
      <p:pic>
        <p:nvPicPr>
          <p:cNvPr id="7" name="Picture 6">
            <a:extLst>
              <a:ext uri="{FF2B5EF4-FFF2-40B4-BE49-F238E27FC236}">
                <a16:creationId xmlns:a16="http://schemas.microsoft.com/office/drawing/2014/main" id="{4E3861DA-10BC-BCDB-9A3A-169FC7805B22}"/>
              </a:ext>
            </a:extLst>
          </p:cNvPr>
          <p:cNvPicPr>
            <a:picLocks noChangeAspect="1"/>
          </p:cNvPicPr>
          <p:nvPr/>
        </p:nvPicPr>
        <p:blipFill>
          <a:blip r:embed="rId4">
            <a:extLst>
              <a:ext uri="{28A0092B-C50C-407E-A947-70E740481C1C}">
                <a14:useLocalDpi xmlns:a14="http://schemas.microsoft.com/office/drawing/2010/main" val="0"/>
              </a:ext>
            </a:extLst>
          </a:blip>
          <a:srcRect l="9585" r="8490"/>
          <a:stretch>
            <a:fillRect/>
          </a:stretch>
        </p:blipFill>
        <p:spPr>
          <a:xfrm>
            <a:off x="6213986" y="879987"/>
            <a:ext cx="5407743" cy="5479875"/>
          </a:xfrm>
          <a:prstGeom prst="rect">
            <a:avLst/>
          </a:prstGeom>
        </p:spPr>
      </p:pic>
    </p:spTree>
    <p:extLst>
      <p:ext uri="{BB962C8B-B14F-4D97-AF65-F5344CB8AC3E}">
        <p14:creationId xmlns:p14="http://schemas.microsoft.com/office/powerpoint/2010/main" val="1233084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randombar(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randombar(horizont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273BD-BC48-CF8A-043C-3EF8AE3DD03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4DC5906-E4AF-EF98-FC42-AE80DCBC90CF}"/>
              </a:ext>
            </a:extLst>
          </p:cNvPr>
          <p:cNvSpPr>
            <a:spLocks noGrp="1"/>
          </p:cNvSpPr>
          <p:nvPr>
            <p:ph type="title"/>
          </p:nvPr>
        </p:nvSpPr>
        <p:spPr>
          <a:xfrm>
            <a:off x="322006" y="194187"/>
            <a:ext cx="6698226" cy="685800"/>
          </a:xfrm>
        </p:spPr>
        <p:txBody>
          <a:bodyPr>
            <a:noAutofit/>
          </a:bodyPr>
          <a:lstStyle/>
          <a:p>
            <a:r>
              <a:rPr lang="en-US" sz="2400" b="1" dirty="0">
                <a:solidFill>
                  <a:srgbClr val="180EE2"/>
                </a:solidFill>
                <a:latin typeface="Times New Roman" panose="02020603050405020304" pitchFamily="18" charset="0"/>
                <a:cs typeface="Times New Roman" panose="02020603050405020304" pitchFamily="18" charset="0"/>
              </a:rPr>
              <a:t>Output of Set-A Questions</a:t>
            </a:r>
            <a:endParaRPr lang="en-US" sz="2400" b="1" dirty="0">
              <a:solidFill>
                <a:srgbClr val="0000FF"/>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5431DE9-9B65-F269-4A15-E43D2CBC6067}"/>
              </a:ext>
            </a:extLst>
          </p:cNvPr>
          <p:cNvPicPr>
            <a:picLocks noChangeAspect="1"/>
          </p:cNvPicPr>
          <p:nvPr/>
        </p:nvPicPr>
        <p:blipFill>
          <a:blip r:embed="rId3">
            <a:extLst>
              <a:ext uri="{28A0092B-C50C-407E-A947-70E740481C1C}">
                <a14:useLocalDpi xmlns:a14="http://schemas.microsoft.com/office/drawing/2010/main" val="0"/>
              </a:ext>
            </a:extLst>
          </a:blip>
          <a:srcRect l="6709" r="14886"/>
          <a:stretch>
            <a:fillRect/>
          </a:stretch>
        </p:blipFill>
        <p:spPr>
          <a:xfrm>
            <a:off x="322006" y="1125935"/>
            <a:ext cx="5437240" cy="5235394"/>
          </a:xfrm>
          <a:prstGeom prst="rect">
            <a:avLst/>
          </a:prstGeom>
        </p:spPr>
      </p:pic>
      <p:pic>
        <p:nvPicPr>
          <p:cNvPr id="8" name="Picture 7">
            <a:extLst>
              <a:ext uri="{FF2B5EF4-FFF2-40B4-BE49-F238E27FC236}">
                <a16:creationId xmlns:a16="http://schemas.microsoft.com/office/drawing/2014/main" id="{E0F0F5E1-EE3A-ED10-EC7B-301F784A7D82}"/>
              </a:ext>
            </a:extLst>
          </p:cNvPr>
          <p:cNvPicPr>
            <a:picLocks noChangeAspect="1"/>
          </p:cNvPicPr>
          <p:nvPr/>
        </p:nvPicPr>
        <p:blipFill>
          <a:blip r:embed="rId4">
            <a:extLst>
              <a:ext uri="{28A0092B-C50C-407E-A947-70E740481C1C}">
                <a14:useLocalDpi xmlns:a14="http://schemas.microsoft.com/office/drawing/2010/main" val="0"/>
              </a:ext>
            </a:extLst>
          </a:blip>
          <a:srcRect l="8463" r="12873"/>
          <a:stretch>
            <a:fillRect/>
          </a:stretch>
        </p:blipFill>
        <p:spPr>
          <a:xfrm>
            <a:off x="6194322" y="766917"/>
            <a:ext cx="5437241" cy="5727774"/>
          </a:xfrm>
          <a:prstGeom prst="rect">
            <a:avLst/>
          </a:prstGeom>
        </p:spPr>
      </p:pic>
    </p:spTree>
    <p:extLst>
      <p:ext uri="{BB962C8B-B14F-4D97-AF65-F5344CB8AC3E}">
        <p14:creationId xmlns:p14="http://schemas.microsoft.com/office/powerpoint/2010/main" val="1829566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randombar(horizontal)">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FD797-3C00-AEB7-E9AD-A1A28DD845D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F8398E1-6DD0-44E6-A5CF-2BF77748299D}"/>
              </a:ext>
            </a:extLst>
          </p:cNvPr>
          <p:cNvSpPr>
            <a:spLocks noGrp="1"/>
          </p:cNvSpPr>
          <p:nvPr>
            <p:ph type="title"/>
          </p:nvPr>
        </p:nvSpPr>
        <p:spPr>
          <a:xfrm>
            <a:off x="322006" y="194187"/>
            <a:ext cx="6698226" cy="685800"/>
          </a:xfrm>
        </p:spPr>
        <p:txBody>
          <a:bodyPr>
            <a:noAutofit/>
          </a:bodyPr>
          <a:lstStyle/>
          <a:p>
            <a:r>
              <a:rPr lang="en-US" sz="2400" b="1" dirty="0">
                <a:solidFill>
                  <a:srgbClr val="180EE2"/>
                </a:solidFill>
                <a:latin typeface="Times New Roman" panose="02020603050405020304" pitchFamily="18" charset="0"/>
                <a:cs typeface="Times New Roman" panose="02020603050405020304" pitchFamily="18" charset="0"/>
              </a:rPr>
              <a:t> Output of Set-A Questions</a:t>
            </a:r>
            <a:endParaRPr lang="en-US" sz="2400" b="1" dirty="0">
              <a:solidFill>
                <a:srgbClr val="0000FF"/>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FA197A06-0EA3-96EC-65E5-99A4448318C7}"/>
              </a:ext>
            </a:extLst>
          </p:cNvPr>
          <p:cNvPicPr>
            <a:picLocks noChangeAspect="1"/>
          </p:cNvPicPr>
          <p:nvPr/>
        </p:nvPicPr>
        <p:blipFill>
          <a:blip r:embed="rId3">
            <a:extLst>
              <a:ext uri="{28A0092B-C50C-407E-A947-70E740481C1C}">
                <a14:useLocalDpi xmlns:a14="http://schemas.microsoft.com/office/drawing/2010/main" val="0"/>
              </a:ext>
            </a:extLst>
          </a:blip>
          <a:srcRect l="9530" r="17010"/>
          <a:stretch>
            <a:fillRect/>
          </a:stretch>
        </p:blipFill>
        <p:spPr>
          <a:xfrm>
            <a:off x="422787" y="805257"/>
            <a:ext cx="5407742" cy="5730737"/>
          </a:xfrm>
          <a:prstGeom prst="rect">
            <a:avLst/>
          </a:prstGeom>
        </p:spPr>
      </p:pic>
      <p:pic>
        <p:nvPicPr>
          <p:cNvPr id="7" name="Picture 6">
            <a:extLst>
              <a:ext uri="{FF2B5EF4-FFF2-40B4-BE49-F238E27FC236}">
                <a16:creationId xmlns:a16="http://schemas.microsoft.com/office/drawing/2014/main" id="{AE6936E5-D3E6-B8CA-B0A0-22CDC5EC89AC}"/>
              </a:ext>
            </a:extLst>
          </p:cNvPr>
          <p:cNvPicPr>
            <a:picLocks noChangeAspect="1"/>
          </p:cNvPicPr>
          <p:nvPr/>
        </p:nvPicPr>
        <p:blipFill>
          <a:blip r:embed="rId4">
            <a:extLst>
              <a:ext uri="{28A0092B-C50C-407E-A947-70E740481C1C}">
                <a14:useLocalDpi xmlns:a14="http://schemas.microsoft.com/office/drawing/2010/main" val="0"/>
              </a:ext>
            </a:extLst>
          </a:blip>
          <a:srcRect l="5130" r="13956"/>
          <a:stretch>
            <a:fillRect/>
          </a:stretch>
        </p:blipFill>
        <p:spPr>
          <a:xfrm>
            <a:off x="6223819" y="805257"/>
            <a:ext cx="5407742" cy="5585944"/>
          </a:xfrm>
          <a:prstGeom prst="rect">
            <a:avLst/>
          </a:prstGeom>
        </p:spPr>
      </p:pic>
    </p:spTree>
    <p:extLst>
      <p:ext uri="{BB962C8B-B14F-4D97-AF65-F5344CB8AC3E}">
        <p14:creationId xmlns:p14="http://schemas.microsoft.com/office/powerpoint/2010/main" val="2890531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randombar(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randombar(horizont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B0234-DF3D-7118-641E-5F0E7A3A063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DF7669B-F957-E8D0-0E2A-9A6001CE1DC5}"/>
              </a:ext>
            </a:extLst>
          </p:cNvPr>
          <p:cNvSpPr>
            <a:spLocks noGrp="1"/>
          </p:cNvSpPr>
          <p:nvPr>
            <p:ph type="title"/>
          </p:nvPr>
        </p:nvSpPr>
        <p:spPr>
          <a:xfrm>
            <a:off x="322006" y="194187"/>
            <a:ext cx="6698226" cy="685800"/>
          </a:xfrm>
        </p:spPr>
        <p:txBody>
          <a:bodyPr>
            <a:noAutofit/>
          </a:bodyPr>
          <a:lstStyle/>
          <a:p>
            <a:r>
              <a:rPr lang="en-US" sz="2400" b="1" dirty="0">
                <a:solidFill>
                  <a:srgbClr val="180EE2"/>
                </a:solidFill>
                <a:latin typeface="Times New Roman" panose="02020603050405020304" pitchFamily="18" charset="0"/>
                <a:cs typeface="Times New Roman" panose="02020603050405020304" pitchFamily="18" charset="0"/>
              </a:rPr>
              <a:t> Output of Set-A Questions</a:t>
            </a:r>
            <a:endParaRPr lang="en-US" sz="2400" b="1" dirty="0">
              <a:solidFill>
                <a:srgbClr val="0000FF"/>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F335FD3D-109D-327D-9E41-D96A3BACBBA9}"/>
              </a:ext>
            </a:extLst>
          </p:cNvPr>
          <p:cNvGraphicFramePr>
            <a:graphicFrameLocks noGrp="1"/>
          </p:cNvGraphicFramePr>
          <p:nvPr>
            <p:extLst>
              <p:ext uri="{D42A27DB-BD31-4B8C-83A1-F6EECF244321}">
                <p14:modId xmlns:p14="http://schemas.microsoft.com/office/powerpoint/2010/main" val="1041516258"/>
              </p:ext>
            </p:extLst>
          </p:nvPr>
        </p:nvGraphicFramePr>
        <p:xfrm>
          <a:off x="1107766" y="1862548"/>
          <a:ext cx="9402918" cy="4505515"/>
        </p:xfrm>
        <a:graphic>
          <a:graphicData uri="http://schemas.openxmlformats.org/drawingml/2006/table">
            <a:tbl>
              <a:tblPr firstRow="1" bandRow="1">
                <a:tableStyleId>{5DA37D80-6434-44D0-A028-1B22A696006F}</a:tableStyleId>
              </a:tblPr>
              <a:tblGrid>
                <a:gridCol w="1567153">
                  <a:extLst>
                    <a:ext uri="{9D8B030D-6E8A-4147-A177-3AD203B41FA5}">
                      <a16:colId xmlns:a16="http://schemas.microsoft.com/office/drawing/2014/main" val="2742955854"/>
                    </a:ext>
                  </a:extLst>
                </a:gridCol>
                <a:gridCol w="1567153">
                  <a:extLst>
                    <a:ext uri="{9D8B030D-6E8A-4147-A177-3AD203B41FA5}">
                      <a16:colId xmlns:a16="http://schemas.microsoft.com/office/drawing/2014/main" val="142665708"/>
                    </a:ext>
                  </a:extLst>
                </a:gridCol>
                <a:gridCol w="1567153">
                  <a:extLst>
                    <a:ext uri="{9D8B030D-6E8A-4147-A177-3AD203B41FA5}">
                      <a16:colId xmlns:a16="http://schemas.microsoft.com/office/drawing/2014/main" val="3040863505"/>
                    </a:ext>
                  </a:extLst>
                </a:gridCol>
                <a:gridCol w="1567153">
                  <a:extLst>
                    <a:ext uri="{9D8B030D-6E8A-4147-A177-3AD203B41FA5}">
                      <a16:colId xmlns:a16="http://schemas.microsoft.com/office/drawing/2014/main" val="2732323049"/>
                    </a:ext>
                  </a:extLst>
                </a:gridCol>
                <a:gridCol w="1567153">
                  <a:extLst>
                    <a:ext uri="{9D8B030D-6E8A-4147-A177-3AD203B41FA5}">
                      <a16:colId xmlns:a16="http://schemas.microsoft.com/office/drawing/2014/main" val="330910976"/>
                    </a:ext>
                  </a:extLst>
                </a:gridCol>
                <a:gridCol w="1567153">
                  <a:extLst>
                    <a:ext uri="{9D8B030D-6E8A-4147-A177-3AD203B41FA5}">
                      <a16:colId xmlns:a16="http://schemas.microsoft.com/office/drawing/2014/main" val="390394312"/>
                    </a:ext>
                  </a:extLst>
                </a:gridCol>
              </a:tblGrid>
              <a:tr h="606276">
                <a:tc>
                  <a:txBody>
                    <a:bodyPr/>
                    <a:lstStyle/>
                    <a:p>
                      <a:pPr algn="ctr"/>
                      <a:r>
                        <a:rPr lang="en-IN" dirty="0">
                          <a:latin typeface="Times New Roman" panose="02020603050405020304" pitchFamily="18" charset="0"/>
                          <a:cs typeface="Times New Roman" panose="02020603050405020304" pitchFamily="18" charset="0"/>
                        </a:rPr>
                        <a:t>Question</a:t>
                      </a:r>
                    </a:p>
                    <a:p>
                      <a:pPr algn="ctr"/>
                      <a:r>
                        <a:rPr lang="en-IN" dirty="0">
                          <a:latin typeface="Times New Roman" panose="02020603050405020304" pitchFamily="18" charset="0"/>
                          <a:cs typeface="Times New Roman" panose="02020603050405020304" pitchFamily="18" charset="0"/>
                        </a:rPr>
                        <a:t>No</a:t>
                      </a:r>
                    </a:p>
                  </a:txBody>
                  <a:tcPr/>
                </a:tc>
                <a:tc>
                  <a:txBody>
                    <a:bodyPr/>
                    <a:lstStyle/>
                    <a:p>
                      <a:pPr algn="ctr"/>
                      <a:r>
                        <a:rPr lang="en-IN" dirty="0">
                          <a:latin typeface="Times New Roman" panose="02020603050405020304" pitchFamily="18" charset="0"/>
                          <a:cs typeface="Times New Roman" panose="02020603050405020304" pitchFamily="18" charset="0"/>
                        </a:rPr>
                        <a:t>Ragas score</a:t>
                      </a:r>
                    </a:p>
                  </a:txBody>
                  <a:tcPr/>
                </a:tc>
                <a:tc>
                  <a:txBody>
                    <a:bodyPr/>
                    <a:lstStyle/>
                    <a:p>
                      <a:pPr algn="ctr"/>
                      <a:r>
                        <a:rPr lang="en-IN" dirty="0">
                          <a:latin typeface="Times New Roman" panose="02020603050405020304" pitchFamily="18" charset="0"/>
                          <a:cs typeface="Times New Roman" panose="02020603050405020304" pitchFamily="18" charset="0"/>
                        </a:rPr>
                        <a:t>Faithfulness</a:t>
                      </a:r>
                    </a:p>
                  </a:txBody>
                  <a:tcPr/>
                </a:tc>
                <a:tc>
                  <a:txBody>
                    <a:bodyPr/>
                    <a:lstStyle/>
                    <a:p>
                      <a:pPr algn="ctr"/>
                      <a:r>
                        <a:rPr lang="en-IN" dirty="0">
                          <a:latin typeface="Times New Roman" panose="02020603050405020304" pitchFamily="18" charset="0"/>
                          <a:cs typeface="Times New Roman" panose="02020603050405020304" pitchFamily="18" charset="0"/>
                        </a:rPr>
                        <a:t>Answer relevance</a:t>
                      </a:r>
                    </a:p>
                  </a:txBody>
                  <a:tcPr/>
                </a:tc>
                <a:tc>
                  <a:txBody>
                    <a:bodyPr/>
                    <a:lstStyle/>
                    <a:p>
                      <a:pPr algn="ctr"/>
                      <a:r>
                        <a:rPr lang="en-IN" dirty="0">
                          <a:latin typeface="Times New Roman" panose="02020603050405020304" pitchFamily="18" charset="0"/>
                          <a:cs typeface="Times New Roman" panose="02020603050405020304" pitchFamily="18" charset="0"/>
                        </a:rPr>
                        <a:t>Hallucination</a:t>
                      </a:r>
                    </a:p>
                  </a:txBody>
                  <a:tcPr/>
                </a:tc>
                <a:tc>
                  <a:txBody>
                    <a:bodyPr/>
                    <a:lstStyle/>
                    <a:p>
                      <a:pPr algn="ctr"/>
                      <a:r>
                        <a:rPr lang="en-IN" dirty="0">
                          <a:latin typeface="Times New Roman" panose="02020603050405020304" pitchFamily="18" charset="0"/>
                          <a:cs typeface="Times New Roman" panose="02020603050405020304" pitchFamily="18" charset="0"/>
                        </a:rPr>
                        <a:t>Proxy question similarity score</a:t>
                      </a:r>
                    </a:p>
                  </a:txBody>
                  <a:tcPr/>
                </a:tc>
                <a:extLst>
                  <a:ext uri="{0D108BD9-81ED-4DB2-BD59-A6C34878D82A}">
                    <a16:rowId xmlns:a16="http://schemas.microsoft.com/office/drawing/2014/main" val="2817110357"/>
                  </a:ext>
                </a:extLst>
              </a:tr>
              <a:tr h="663359">
                <a:tc>
                  <a:txBody>
                    <a:bodyPr/>
                    <a:lstStyle/>
                    <a:p>
                      <a:pPr algn="ctr"/>
                      <a:r>
                        <a:rPr lang="en-IN" dirty="0">
                          <a:latin typeface="Times New Roman" panose="02020603050405020304" pitchFamily="18" charset="0"/>
                          <a:cs typeface="Times New Roman" panose="02020603050405020304" pitchFamily="18" charset="0"/>
                        </a:rPr>
                        <a:t>1</a:t>
                      </a:r>
                    </a:p>
                  </a:txBody>
                  <a:tcPr/>
                </a:tc>
                <a:tc>
                  <a:txBody>
                    <a:bodyPr/>
                    <a:lstStyle/>
                    <a:p>
                      <a:pPr algn="ctr"/>
                      <a:r>
                        <a:rPr lang="en-IN" dirty="0">
                          <a:latin typeface="Times New Roman" panose="02020603050405020304" pitchFamily="18" charset="0"/>
                          <a:cs typeface="Times New Roman" panose="02020603050405020304" pitchFamily="18" charset="0"/>
                        </a:rPr>
                        <a:t>0.95</a:t>
                      </a:r>
                    </a:p>
                  </a:txBody>
                  <a:tcPr/>
                </a:tc>
                <a:tc>
                  <a:txBody>
                    <a:bodyPr/>
                    <a:lstStyle/>
                    <a:p>
                      <a:pPr algn="ctr"/>
                      <a:r>
                        <a:rPr lang="en-IN" dirty="0">
                          <a:latin typeface="Times New Roman" panose="02020603050405020304" pitchFamily="18" charset="0"/>
                          <a:cs typeface="Times New Roman" panose="02020603050405020304" pitchFamily="18" charset="0"/>
                        </a:rPr>
                        <a:t>1.0</a:t>
                      </a:r>
                    </a:p>
                  </a:txBody>
                  <a:tcPr/>
                </a:tc>
                <a:tc>
                  <a:txBody>
                    <a:bodyPr/>
                    <a:lstStyle/>
                    <a:p>
                      <a:pPr algn="ctr"/>
                      <a:r>
                        <a:rPr lang="en-IN" dirty="0">
                          <a:latin typeface="Times New Roman" panose="02020603050405020304" pitchFamily="18" charset="0"/>
                          <a:cs typeface="Times New Roman" panose="02020603050405020304" pitchFamily="18" charset="0"/>
                        </a:rPr>
                        <a:t>0.92</a:t>
                      </a:r>
                    </a:p>
                  </a:txBody>
                  <a:tcPr/>
                </a:tc>
                <a:tc>
                  <a:txBody>
                    <a:bodyPr/>
                    <a:lstStyle/>
                    <a:p>
                      <a:pPr algn="ctr"/>
                      <a:r>
                        <a:rPr lang="en-IN" dirty="0">
                          <a:latin typeface="Times New Roman" panose="02020603050405020304" pitchFamily="18" charset="0"/>
                          <a:cs typeface="Times New Roman" panose="02020603050405020304" pitchFamily="18" charset="0"/>
                        </a:rPr>
                        <a:t>No</a:t>
                      </a:r>
                    </a:p>
                  </a:txBody>
                  <a:tcPr/>
                </a:tc>
                <a:tc>
                  <a:txBody>
                    <a:bodyPr/>
                    <a:lstStyle/>
                    <a:p>
                      <a:pPr algn="ctr"/>
                      <a:r>
                        <a:rPr lang="en-IN" dirty="0">
                          <a:latin typeface="Times New Roman" panose="02020603050405020304" pitchFamily="18" charset="0"/>
                          <a:cs typeface="Times New Roman" panose="02020603050405020304" pitchFamily="18" charset="0"/>
                        </a:rPr>
                        <a:t>0.84</a:t>
                      </a:r>
                    </a:p>
                  </a:txBody>
                  <a:tcPr/>
                </a:tc>
                <a:extLst>
                  <a:ext uri="{0D108BD9-81ED-4DB2-BD59-A6C34878D82A}">
                    <a16:rowId xmlns:a16="http://schemas.microsoft.com/office/drawing/2014/main" val="2805036234"/>
                  </a:ext>
                </a:extLst>
              </a:tr>
              <a:tr h="663359">
                <a:tc>
                  <a:txBody>
                    <a:bodyPr/>
                    <a:lstStyle/>
                    <a:p>
                      <a:pPr algn="ctr"/>
                      <a:r>
                        <a:rPr lang="en-IN" dirty="0">
                          <a:latin typeface="Times New Roman" panose="02020603050405020304" pitchFamily="18" charset="0"/>
                          <a:cs typeface="Times New Roman" panose="02020603050405020304" pitchFamily="18" charset="0"/>
                        </a:rPr>
                        <a:t>2</a:t>
                      </a:r>
                    </a:p>
                  </a:txBody>
                  <a:tcPr/>
                </a:tc>
                <a:tc>
                  <a:txBody>
                    <a:bodyPr/>
                    <a:lstStyle/>
                    <a:p>
                      <a:pPr algn="ctr"/>
                      <a:r>
                        <a:rPr lang="en-IN" dirty="0">
                          <a:latin typeface="Times New Roman" panose="02020603050405020304" pitchFamily="18" charset="0"/>
                          <a:cs typeface="Times New Roman" panose="02020603050405020304" pitchFamily="18" charset="0"/>
                        </a:rPr>
                        <a:t>0.65</a:t>
                      </a:r>
                    </a:p>
                  </a:txBody>
                  <a:tcPr/>
                </a:tc>
                <a:tc>
                  <a:txBody>
                    <a:bodyPr/>
                    <a:lstStyle/>
                    <a:p>
                      <a:pPr algn="ctr"/>
                      <a:r>
                        <a:rPr lang="en-IN" dirty="0">
                          <a:latin typeface="Times New Roman" panose="02020603050405020304" pitchFamily="18" charset="0"/>
                          <a:cs typeface="Times New Roman" panose="02020603050405020304" pitchFamily="18" charset="0"/>
                        </a:rPr>
                        <a:t>0.5</a:t>
                      </a:r>
                    </a:p>
                  </a:txBody>
                  <a:tcPr/>
                </a:tc>
                <a:tc>
                  <a:txBody>
                    <a:bodyPr/>
                    <a:lstStyle/>
                    <a:p>
                      <a:pPr algn="ctr"/>
                      <a:r>
                        <a:rPr lang="en-IN" dirty="0">
                          <a:latin typeface="Times New Roman" panose="02020603050405020304" pitchFamily="18" charset="0"/>
                          <a:cs typeface="Times New Roman" panose="02020603050405020304" pitchFamily="18" charset="0"/>
                        </a:rPr>
                        <a:t>0.96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No</a:t>
                      </a:r>
                    </a:p>
                    <a:p>
                      <a:pPr algn="ct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0.83</a:t>
                      </a:r>
                    </a:p>
                  </a:txBody>
                  <a:tcPr/>
                </a:tc>
                <a:extLst>
                  <a:ext uri="{0D108BD9-81ED-4DB2-BD59-A6C34878D82A}">
                    <a16:rowId xmlns:a16="http://schemas.microsoft.com/office/drawing/2014/main" val="2021488539"/>
                  </a:ext>
                </a:extLst>
              </a:tr>
              <a:tr h="663359">
                <a:tc>
                  <a:txBody>
                    <a:bodyPr/>
                    <a:lstStyle/>
                    <a:p>
                      <a:pPr algn="ctr"/>
                      <a:r>
                        <a:rPr lang="en-IN" dirty="0">
                          <a:latin typeface="Times New Roman" panose="02020603050405020304" pitchFamily="18" charset="0"/>
                          <a:cs typeface="Times New Roman" panose="02020603050405020304" pitchFamily="18" charset="0"/>
                        </a:rPr>
                        <a:t>3</a:t>
                      </a:r>
                    </a:p>
                  </a:txBody>
                  <a:tcPr/>
                </a:tc>
                <a:tc>
                  <a:txBody>
                    <a:bodyPr/>
                    <a:lstStyle/>
                    <a:p>
                      <a:pPr algn="ctr"/>
                      <a:r>
                        <a:rPr lang="en-IN" dirty="0">
                          <a:latin typeface="Times New Roman" panose="02020603050405020304" pitchFamily="18" charset="0"/>
                          <a:cs typeface="Times New Roman" panose="02020603050405020304" pitchFamily="18" charset="0"/>
                        </a:rPr>
                        <a:t>1.0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1.0</a:t>
                      </a:r>
                    </a:p>
                    <a:p>
                      <a:pPr algn="ct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1.0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No</a:t>
                      </a:r>
                    </a:p>
                    <a:p>
                      <a:pPr algn="ct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0.82</a:t>
                      </a:r>
                    </a:p>
                  </a:txBody>
                  <a:tcPr/>
                </a:tc>
                <a:extLst>
                  <a:ext uri="{0D108BD9-81ED-4DB2-BD59-A6C34878D82A}">
                    <a16:rowId xmlns:a16="http://schemas.microsoft.com/office/drawing/2014/main" val="3334986471"/>
                  </a:ext>
                </a:extLst>
              </a:tr>
              <a:tr h="663359">
                <a:tc>
                  <a:txBody>
                    <a:bodyPr/>
                    <a:lstStyle/>
                    <a:p>
                      <a:pPr algn="ctr"/>
                      <a:r>
                        <a:rPr lang="en-IN" dirty="0">
                          <a:latin typeface="Times New Roman" panose="02020603050405020304" pitchFamily="18" charset="0"/>
                          <a:cs typeface="Times New Roman" panose="02020603050405020304" pitchFamily="18" charset="0"/>
                        </a:rPr>
                        <a:t>4</a:t>
                      </a:r>
                    </a:p>
                  </a:txBody>
                  <a:tcPr/>
                </a:tc>
                <a:tc>
                  <a:txBody>
                    <a:bodyPr/>
                    <a:lstStyle/>
                    <a:p>
                      <a:pPr algn="ctr"/>
                      <a:r>
                        <a:rPr lang="en-IN" dirty="0">
                          <a:latin typeface="Times New Roman" panose="02020603050405020304" pitchFamily="18" charset="0"/>
                          <a:cs typeface="Times New Roman" panose="02020603050405020304" pitchFamily="18" charset="0"/>
                        </a:rPr>
                        <a:t>0.97</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1.0</a:t>
                      </a:r>
                    </a:p>
                    <a:p>
                      <a:pPr algn="ct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9.95</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No</a:t>
                      </a:r>
                    </a:p>
                    <a:p>
                      <a:pPr algn="ct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0.86</a:t>
                      </a:r>
                    </a:p>
                  </a:txBody>
                  <a:tcPr/>
                </a:tc>
                <a:extLst>
                  <a:ext uri="{0D108BD9-81ED-4DB2-BD59-A6C34878D82A}">
                    <a16:rowId xmlns:a16="http://schemas.microsoft.com/office/drawing/2014/main" val="742773452"/>
                  </a:ext>
                </a:extLst>
              </a:tr>
              <a:tr h="663359">
                <a:tc>
                  <a:txBody>
                    <a:bodyPr/>
                    <a:lstStyle/>
                    <a:p>
                      <a:pPr algn="ctr"/>
                      <a:r>
                        <a:rPr lang="en-IN" dirty="0">
                          <a:latin typeface="Times New Roman" panose="02020603050405020304" pitchFamily="18" charset="0"/>
                          <a:cs typeface="Times New Roman" panose="02020603050405020304" pitchFamily="18" charset="0"/>
                        </a:rPr>
                        <a:t>5</a:t>
                      </a:r>
                    </a:p>
                  </a:txBody>
                  <a:tcPr/>
                </a:tc>
                <a:tc>
                  <a:txBody>
                    <a:bodyPr/>
                    <a:lstStyle/>
                    <a:p>
                      <a:pPr algn="ctr"/>
                      <a:r>
                        <a:rPr lang="en-IN" dirty="0">
                          <a:latin typeface="Times New Roman" panose="02020603050405020304" pitchFamily="18" charset="0"/>
                          <a:cs typeface="Times New Roman" panose="02020603050405020304" pitchFamily="18" charset="0"/>
                        </a:rPr>
                        <a:t>0.97</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1.0</a:t>
                      </a:r>
                    </a:p>
                    <a:p>
                      <a:pPr algn="ct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0.95</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No</a:t>
                      </a:r>
                    </a:p>
                    <a:p>
                      <a:pPr algn="ct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0.65</a:t>
                      </a:r>
                    </a:p>
                  </a:txBody>
                  <a:tcPr/>
                </a:tc>
                <a:extLst>
                  <a:ext uri="{0D108BD9-81ED-4DB2-BD59-A6C34878D82A}">
                    <a16:rowId xmlns:a16="http://schemas.microsoft.com/office/drawing/2014/main" val="1050277001"/>
                  </a:ext>
                </a:extLst>
              </a:tr>
            </a:tbl>
          </a:graphicData>
        </a:graphic>
      </p:graphicFrame>
      <p:sp>
        <p:nvSpPr>
          <p:cNvPr id="8" name="TextBox 7">
            <a:extLst>
              <a:ext uri="{FF2B5EF4-FFF2-40B4-BE49-F238E27FC236}">
                <a16:creationId xmlns:a16="http://schemas.microsoft.com/office/drawing/2014/main" id="{840AC642-F03B-1173-98E8-6BDE36D6BD9B}"/>
              </a:ext>
            </a:extLst>
          </p:cNvPr>
          <p:cNvSpPr txBox="1"/>
          <p:nvPr/>
        </p:nvSpPr>
        <p:spPr>
          <a:xfrm>
            <a:off x="3048000" y="1269590"/>
            <a:ext cx="6096000" cy="390684"/>
          </a:xfrm>
          <a:prstGeom prst="rect">
            <a:avLst/>
          </a:prstGeom>
          <a:noFill/>
        </p:spPr>
        <p:txBody>
          <a:bodyPr wrap="square">
            <a:spAutoFit/>
          </a:bodyPr>
          <a:lstStyle/>
          <a:p>
            <a:pPr algn="ctr">
              <a:lnSpc>
                <a:spcPct val="115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Table. 1:</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Evaluation of the model using few samples dataset.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84933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randombar(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randombar(horizontal)">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307BB-6243-FB44-B7EA-A3CEEB64FF6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DF243416-5C56-3219-FF65-7ADCFDFF7CAF}"/>
              </a:ext>
            </a:extLst>
          </p:cNvPr>
          <p:cNvSpPr>
            <a:spLocks noGrp="1"/>
          </p:cNvSpPr>
          <p:nvPr>
            <p:ph type="title"/>
          </p:nvPr>
        </p:nvSpPr>
        <p:spPr>
          <a:xfrm>
            <a:off x="322006" y="194187"/>
            <a:ext cx="6698226" cy="685800"/>
          </a:xfrm>
        </p:spPr>
        <p:txBody>
          <a:bodyPr>
            <a:noAutofit/>
          </a:bodyPr>
          <a:lstStyle/>
          <a:p>
            <a:r>
              <a:rPr lang="en-US" sz="2400" b="1" dirty="0">
                <a:solidFill>
                  <a:srgbClr val="180EE2"/>
                </a:solidFill>
                <a:latin typeface="Times New Roman" panose="02020603050405020304" pitchFamily="18" charset="0"/>
                <a:cs typeface="Times New Roman" panose="02020603050405020304" pitchFamily="18" charset="0"/>
              </a:rPr>
              <a:t> Output of Set-B Questions</a:t>
            </a:r>
            <a:endParaRPr lang="en-US" sz="2400" b="1" dirty="0">
              <a:solidFill>
                <a:srgbClr val="0000FF"/>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6E9B3C0A-7BAA-FF8B-0DC1-DEB77563349C}"/>
              </a:ext>
            </a:extLst>
          </p:cNvPr>
          <p:cNvPicPr>
            <a:picLocks noChangeAspect="1"/>
          </p:cNvPicPr>
          <p:nvPr/>
        </p:nvPicPr>
        <p:blipFill>
          <a:blip r:embed="rId3">
            <a:extLst>
              <a:ext uri="{28A0092B-C50C-407E-A947-70E740481C1C}">
                <a14:useLocalDpi xmlns:a14="http://schemas.microsoft.com/office/drawing/2010/main" val="0"/>
              </a:ext>
            </a:extLst>
          </a:blip>
          <a:srcRect l="13808" r="10907"/>
          <a:stretch>
            <a:fillRect/>
          </a:stretch>
        </p:blipFill>
        <p:spPr>
          <a:xfrm>
            <a:off x="322006" y="1059427"/>
            <a:ext cx="5565059" cy="5604386"/>
          </a:xfrm>
          <a:prstGeom prst="rect">
            <a:avLst/>
          </a:prstGeom>
        </p:spPr>
      </p:pic>
      <p:pic>
        <p:nvPicPr>
          <p:cNvPr id="6" name="Picture 5">
            <a:extLst>
              <a:ext uri="{FF2B5EF4-FFF2-40B4-BE49-F238E27FC236}">
                <a16:creationId xmlns:a16="http://schemas.microsoft.com/office/drawing/2014/main" id="{BBC5B331-FFDE-2F13-3F67-FF1EC75543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53664" y="1288026"/>
            <a:ext cx="6169123" cy="4788309"/>
          </a:xfrm>
          <a:prstGeom prst="rect">
            <a:avLst/>
          </a:prstGeom>
        </p:spPr>
      </p:pic>
    </p:spTree>
    <p:extLst>
      <p:ext uri="{BB962C8B-B14F-4D97-AF65-F5344CB8AC3E}">
        <p14:creationId xmlns:p14="http://schemas.microsoft.com/office/powerpoint/2010/main" val="2433953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randombar(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randombar(horizont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566BF-1F07-B020-4C74-B29AA746D62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6B1001C-1E70-21BB-7D05-7BF730E57915}"/>
              </a:ext>
            </a:extLst>
          </p:cNvPr>
          <p:cNvSpPr>
            <a:spLocks noGrp="1"/>
          </p:cNvSpPr>
          <p:nvPr>
            <p:ph type="title"/>
          </p:nvPr>
        </p:nvSpPr>
        <p:spPr>
          <a:xfrm>
            <a:off x="322006" y="194187"/>
            <a:ext cx="6698226" cy="685800"/>
          </a:xfrm>
        </p:spPr>
        <p:txBody>
          <a:bodyPr>
            <a:noAutofit/>
          </a:bodyPr>
          <a:lstStyle/>
          <a:p>
            <a:r>
              <a:rPr lang="en-US" sz="2400" b="1" dirty="0">
                <a:solidFill>
                  <a:srgbClr val="180EE2"/>
                </a:solidFill>
                <a:latin typeface="Times New Roman" panose="02020603050405020304" pitchFamily="18" charset="0"/>
                <a:cs typeface="Times New Roman" panose="02020603050405020304" pitchFamily="18" charset="0"/>
              </a:rPr>
              <a:t>Output of Set-B Questions</a:t>
            </a:r>
            <a:endParaRPr lang="en-US" sz="2400" b="1" dirty="0">
              <a:solidFill>
                <a:srgbClr val="0000FF"/>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12CE668F-CCDE-704D-CE96-ED4503635C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856" y="1022230"/>
            <a:ext cx="6027942" cy="5250750"/>
          </a:xfrm>
          <a:prstGeom prst="rect">
            <a:avLst/>
          </a:prstGeom>
        </p:spPr>
      </p:pic>
      <p:pic>
        <p:nvPicPr>
          <p:cNvPr id="10" name="Picture 9">
            <a:extLst>
              <a:ext uri="{FF2B5EF4-FFF2-40B4-BE49-F238E27FC236}">
                <a16:creationId xmlns:a16="http://schemas.microsoft.com/office/drawing/2014/main" id="{CC3F3B57-AEA0-1570-C07C-53A13BBFA86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17609" y="1022230"/>
            <a:ext cx="6035563" cy="5250750"/>
          </a:xfrm>
          <a:prstGeom prst="rect">
            <a:avLst/>
          </a:prstGeom>
        </p:spPr>
      </p:pic>
    </p:spTree>
    <p:extLst>
      <p:ext uri="{BB962C8B-B14F-4D97-AF65-F5344CB8AC3E}">
        <p14:creationId xmlns:p14="http://schemas.microsoft.com/office/powerpoint/2010/main" val="1502337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randombar(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randombar(horizontal)">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04CD3-91BD-42E6-A3A0-F3D77C5146F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9C24434-25BC-F197-FD7D-C9EBB41D0048}"/>
              </a:ext>
            </a:extLst>
          </p:cNvPr>
          <p:cNvSpPr>
            <a:spLocks noGrp="1"/>
          </p:cNvSpPr>
          <p:nvPr>
            <p:ph type="title"/>
          </p:nvPr>
        </p:nvSpPr>
        <p:spPr>
          <a:xfrm>
            <a:off x="322006" y="194187"/>
            <a:ext cx="6698226" cy="685800"/>
          </a:xfrm>
        </p:spPr>
        <p:txBody>
          <a:bodyPr>
            <a:noAutofit/>
          </a:bodyPr>
          <a:lstStyle/>
          <a:p>
            <a:r>
              <a:rPr lang="en-US" sz="2400" b="1" dirty="0">
                <a:solidFill>
                  <a:srgbClr val="180EE2"/>
                </a:solidFill>
                <a:latin typeface="Times New Roman" panose="02020603050405020304" pitchFamily="18" charset="0"/>
                <a:cs typeface="Times New Roman" panose="02020603050405020304" pitchFamily="18" charset="0"/>
              </a:rPr>
              <a:t>Output of Set-B Questions</a:t>
            </a:r>
            <a:endParaRPr lang="en-US" sz="2400" b="1" dirty="0">
              <a:solidFill>
                <a:srgbClr val="0000FF"/>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2E2837C4-BB8C-781A-D3F8-624E2E68A2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2006" y="1101213"/>
            <a:ext cx="5989653" cy="5152103"/>
          </a:xfrm>
          <a:prstGeom prst="rect">
            <a:avLst/>
          </a:prstGeom>
        </p:spPr>
      </p:pic>
      <p:pic>
        <p:nvPicPr>
          <p:cNvPr id="6" name="Picture 5">
            <a:extLst>
              <a:ext uri="{FF2B5EF4-FFF2-40B4-BE49-F238E27FC236}">
                <a16:creationId xmlns:a16="http://schemas.microsoft.com/office/drawing/2014/main" id="{996CA29E-C184-0452-130A-78D2A864F2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879988"/>
            <a:ext cx="5989653" cy="5783826"/>
          </a:xfrm>
          <a:prstGeom prst="rect">
            <a:avLst/>
          </a:prstGeom>
        </p:spPr>
      </p:pic>
    </p:spTree>
    <p:extLst>
      <p:ext uri="{BB962C8B-B14F-4D97-AF65-F5344CB8AC3E}">
        <p14:creationId xmlns:p14="http://schemas.microsoft.com/office/powerpoint/2010/main" val="2139526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randombar(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randombar(horizont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2BD30-2A0B-27C7-6A80-9DEA7408A4E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C0E46CA-0D57-CE12-FC5C-22F6B0CDC6E5}"/>
              </a:ext>
            </a:extLst>
          </p:cNvPr>
          <p:cNvSpPr>
            <a:spLocks noGrp="1"/>
          </p:cNvSpPr>
          <p:nvPr>
            <p:ph type="title"/>
          </p:nvPr>
        </p:nvSpPr>
        <p:spPr>
          <a:xfrm>
            <a:off x="322006" y="194187"/>
            <a:ext cx="6698226" cy="685800"/>
          </a:xfrm>
        </p:spPr>
        <p:txBody>
          <a:bodyPr>
            <a:noAutofit/>
          </a:bodyPr>
          <a:lstStyle/>
          <a:p>
            <a:r>
              <a:rPr lang="en-US" sz="2400" b="1" dirty="0">
                <a:solidFill>
                  <a:srgbClr val="180EE2"/>
                </a:solidFill>
                <a:latin typeface="Times New Roman" panose="02020603050405020304" pitchFamily="18" charset="0"/>
                <a:cs typeface="Times New Roman" panose="02020603050405020304" pitchFamily="18" charset="0"/>
              </a:rPr>
              <a:t>Output of Set-B Questions</a:t>
            </a:r>
            <a:endParaRPr lang="en-US" sz="2400" b="1" dirty="0">
              <a:solidFill>
                <a:srgbClr val="0000FF"/>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AC3E021-47A7-2649-05D3-7992F6E754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0114" y="879987"/>
            <a:ext cx="7365387" cy="5783826"/>
          </a:xfrm>
          <a:prstGeom prst="rect">
            <a:avLst/>
          </a:prstGeom>
        </p:spPr>
      </p:pic>
    </p:spTree>
    <p:extLst>
      <p:ext uri="{BB962C8B-B14F-4D97-AF65-F5344CB8AC3E}">
        <p14:creationId xmlns:p14="http://schemas.microsoft.com/office/powerpoint/2010/main" val="260235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F97D1-D8E2-6338-4D8E-EEE47C95C18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DDA19C2F-0749-662D-28E9-98B4B899C881}"/>
              </a:ext>
            </a:extLst>
          </p:cNvPr>
          <p:cNvSpPr>
            <a:spLocks noGrp="1"/>
          </p:cNvSpPr>
          <p:nvPr>
            <p:ph type="title"/>
          </p:nvPr>
        </p:nvSpPr>
        <p:spPr>
          <a:xfrm>
            <a:off x="322006" y="194187"/>
            <a:ext cx="6698226" cy="685800"/>
          </a:xfrm>
        </p:spPr>
        <p:txBody>
          <a:bodyPr>
            <a:noAutofit/>
          </a:bodyPr>
          <a:lstStyle/>
          <a:p>
            <a:r>
              <a:rPr lang="en-US" sz="2400" b="1" dirty="0">
                <a:solidFill>
                  <a:srgbClr val="180EE2"/>
                </a:solidFill>
                <a:latin typeface="Times New Roman" panose="02020603050405020304" pitchFamily="18" charset="0"/>
                <a:cs typeface="Times New Roman" panose="02020603050405020304" pitchFamily="18" charset="0"/>
              </a:rPr>
              <a:t>10.  Challenges in the Current Chatbot</a:t>
            </a:r>
            <a:endParaRPr lang="en-US" sz="2400" b="1" dirty="0">
              <a:solidFill>
                <a:srgbClr val="0000FF"/>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695AA2FE-264F-6AF6-686B-8A361A858A0F}"/>
                  </a:ext>
                </a:extLst>
              </p:cNvPr>
              <p:cNvSpPr txBox="1"/>
              <p:nvPr/>
            </p:nvSpPr>
            <p:spPr>
              <a:xfrm>
                <a:off x="322006" y="1047136"/>
                <a:ext cx="11260394" cy="4604850"/>
              </a:xfrm>
              <a:prstGeom prst="rect">
                <a:avLst/>
              </a:prstGeom>
              <a:noFill/>
            </p:spPr>
            <p:txBody>
              <a:bodyPr wrap="square">
                <a:spAutoFit/>
              </a:bodyPr>
              <a:lstStyle/>
              <a:p>
                <a:pPr marL="285750" lvl="0" indent="-285750" algn="just">
                  <a:lnSpc>
                    <a:spcPct val="115000"/>
                  </a:lnSpc>
                  <a:buFont typeface="Wingdings" panose="05000000000000000000" pitchFamily="2" charset="2"/>
                  <a:buChar char="v"/>
                </a:pP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Latency issue:</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Due to hardware constraints </a:t>
                </a: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(limited to 16 GB RAM), </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open-source LLMs </a:t>
                </a:r>
                <a:r>
                  <a:rPr lang="en-IN" sz="1600" kern="1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a:t>
                </a:r>
                <a:r>
                  <a:rPr lang="en-IN" sz="1600" b="1" kern="1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llama3.2:1b, gemma:2b and mistral: latest</a:t>
                </a:r>
                <a:r>
                  <a:rPr lang="en-IN" sz="1600" kern="1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exhibit high response times (latency). To mitigate this, the system currently relies on </a:t>
                </a:r>
                <a:r>
                  <a:rPr lang="en-IN" sz="1600"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OpenAI’s API</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which offers faster inference but introduces dependency on external services.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685800" algn="just">
                  <a:lnSpc>
                    <a:spcPct val="115000"/>
                  </a:lnSpc>
                </a:pP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Single conversional chatbot:</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The current chatbot </a:t>
                </a:r>
                <a:r>
                  <a:rPr lang="en-IN" sz="1600"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lacks memory capabilities</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restricting it to single-turn conversations without retaining chat history. This limitation stems from both memory constraints and the cost implications of storing and retrieving conversation logs via API.</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15000"/>
                  </a:lnSpc>
                </a:pP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Limited evaluation metrics</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The absence of </a:t>
                </a:r>
                <a:r>
                  <a:rPr lang="en-IN" sz="1600" b="1" kern="1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ground truth data </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in the dataset restricts comprehensive evaluation. Without benchmark question-answer pairs, only basic metrics can assess response quality, limiting insights into model accuracy and relevance. </a:t>
                </a:r>
              </a:p>
              <a:p>
                <a:pPr lvl="0" algn="just">
                  <a:lnSpc>
                    <a:spcPct val="115000"/>
                  </a:lnSpc>
                </a:pP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Problem of Diversity-Based Chunking Algorithm:  </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The current Diversity-Based Chunking Algorithm uses a </a:t>
                </a:r>
                <a:r>
                  <a:rPr lang="en-IN" sz="1600"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fixed overlap</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of </a:t>
                </a:r>
                <a:r>
                  <a:rPr lang="en-IN" sz="1600" i="1" kern="100" dirty="0">
                    <a:effectLst/>
                    <a:latin typeface="Times New Roman" panose="02020603050405020304" pitchFamily="18" charset="0"/>
                    <a:ea typeface="Calibri" panose="020F0502020204030204" pitchFamily="34" charset="0"/>
                    <a:cs typeface="Times New Roman" panose="02020603050405020304" pitchFamily="18" charset="0"/>
                  </a:rPr>
                  <a:t>(l=50) </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with chunk size of </a:t>
                </a:r>
                <a14:m>
                  <m:oMath xmlns:m="http://schemas.openxmlformats.org/officeDocument/2006/math">
                    <m:r>
                      <a:rPr lang="en-IN" sz="1600" i="1" kern="100">
                        <a:effectLst/>
                        <a:latin typeface="Cambria Math" panose="02040503050406030204" pitchFamily="18" charset="0"/>
                        <a:ea typeface="Calibri" panose="020F0502020204030204" pitchFamily="34" charset="0"/>
                        <a:cs typeface="Times New Roman" panose="02020603050405020304" pitchFamily="18" charset="0"/>
                      </a:rPr>
                      <m:t>𝑘</m:t>
                    </m:r>
                    <m:r>
                      <a:rPr lang="en-IN" sz="1600" i="1" kern="100">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IN" sz="1600" i="1" kern="100">
                            <a:effectLst/>
                            <a:latin typeface="Cambria Math" panose="02040503050406030204" pitchFamily="18" charset="0"/>
                            <a:ea typeface="Calibri" panose="020F0502020204030204" pitchFamily="34" charset="0"/>
                            <a:cs typeface="Times New Roman" panose="02020603050405020304" pitchFamily="18" charset="0"/>
                          </a:rPr>
                        </m:ctrlPr>
                      </m:dPr>
                      <m:e>
                        <m:r>
                          <a:rPr lang="en-IN" sz="1600" i="1" kern="100">
                            <a:effectLst/>
                            <a:latin typeface="Cambria Math" panose="02040503050406030204" pitchFamily="18" charset="0"/>
                            <a:ea typeface="Calibri" panose="020F0502020204030204" pitchFamily="34" charset="0"/>
                            <a:cs typeface="Times New Roman" panose="02020603050405020304" pitchFamily="18" charset="0"/>
                          </a:rPr>
                          <m:t>128, 256, …., 768</m:t>
                        </m:r>
                      </m:e>
                    </m:d>
                  </m:oMath>
                </a14:m>
                <a:r>
                  <a:rPr lang="en-IN" sz="16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p>
              <a:p>
                <a:pPr lvl="0" algn="just">
                  <a:lnSpc>
                    <a:spcPct val="115000"/>
                  </a:lnSpc>
                </a:pP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lvl="0" indent="-285750" algn="just">
                  <a:lnSpc>
                    <a:spcPct val="115000"/>
                  </a:lnSpc>
                  <a:spcAft>
                    <a:spcPts val="800"/>
                  </a:spcAft>
                  <a:buFont typeface="Wingdings" panose="05000000000000000000" pitchFamily="2" charset="2"/>
                  <a:buChar char="v"/>
                </a:pP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Zero</a:t>
                </a:r>
                <a:r>
                  <a:rPr lang="en-IN"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-Shot Prompt Technique:</a:t>
                </a:r>
                <a:r>
                  <a:rPr lang="en-IN" sz="16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Due to the absence of labelled data, </a:t>
                </a:r>
                <a:r>
                  <a:rPr lang="en-IN" sz="1600" b="1" kern="100"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rPr>
                  <a:t>zero-shot prompting </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was explored. </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p:sp>
            <p:nvSpPr>
              <p:cNvPr id="3" name="TextBox 2">
                <a:extLst>
                  <a:ext uri="{FF2B5EF4-FFF2-40B4-BE49-F238E27FC236}">
                    <a16:creationId xmlns:a16="http://schemas.microsoft.com/office/drawing/2014/main" id="{695AA2FE-264F-6AF6-686B-8A361A858A0F}"/>
                  </a:ext>
                </a:extLst>
              </p:cNvPr>
              <p:cNvSpPr txBox="1">
                <a:spLocks noRot="1" noChangeAspect="1" noMove="1" noResize="1" noEditPoints="1" noAdjustHandles="1" noChangeArrowheads="1" noChangeShapeType="1" noTextEdit="1"/>
              </p:cNvSpPr>
              <p:nvPr/>
            </p:nvSpPr>
            <p:spPr>
              <a:xfrm>
                <a:off x="322006" y="1047136"/>
                <a:ext cx="11260394" cy="4604850"/>
              </a:xfrm>
              <a:prstGeom prst="rect">
                <a:avLst/>
              </a:prstGeom>
              <a:blipFill>
                <a:blip r:embed="rId3"/>
                <a:stretch>
                  <a:fillRect l="-217" r="-271" b="-795"/>
                </a:stretch>
              </a:blipFill>
            </p:spPr>
            <p:txBody>
              <a:bodyPr/>
              <a:lstStyle/>
              <a:p>
                <a:r>
                  <a:rPr lang="en-IN">
                    <a:noFill/>
                  </a:rPr>
                  <a:t> </a:t>
                </a:r>
              </a:p>
            </p:txBody>
          </p:sp>
        </mc:Fallback>
      </mc:AlternateContent>
    </p:spTree>
    <p:extLst>
      <p:ext uri="{BB962C8B-B14F-4D97-AF65-F5344CB8AC3E}">
        <p14:creationId xmlns:p14="http://schemas.microsoft.com/office/powerpoint/2010/main" val="3657684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randombar(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77E2C-A37A-7253-56B2-736BEA30158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48A7145-81C2-721E-B2A3-A2AE3D946157}"/>
              </a:ext>
            </a:extLst>
          </p:cNvPr>
          <p:cNvSpPr>
            <a:spLocks noGrp="1"/>
          </p:cNvSpPr>
          <p:nvPr>
            <p:ph type="title"/>
          </p:nvPr>
        </p:nvSpPr>
        <p:spPr>
          <a:xfrm>
            <a:off x="312174" y="95865"/>
            <a:ext cx="6698226" cy="685800"/>
          </a:xfrm>
        </p:spPr>
        <p:txBody>
          <a:bodyPr>
            <a:noAutofit/>
          </a:bodyPr>
          <a:lstStyle/>
          <a:p>
            <a:r>
              <a:rPr lang="en-US" sz="2400" b="1" dirty="0">
                <a:solidFill>
                  <a:srgbClr val="180EE2"/>
                </a:solidFill>
                <a:latin typeface="Times New Roman" panose="02020603050405020304" pitchFamily="18" charset="0"/>
                <a:cs typeface="Times New Roman" panose="02020603050405020304" pitchFamily="18" charset="0"/>
              </a:rPr>
              <a:t>11.  Future Work</a:t>
            </a:r>
            <a:endParaRPr lang="en-US" sz="2400" b="1" dirty="0">
              <a:solidFill>
                <a:srgbClr val="0000FF"/>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6C0BC0C-1E58-167F-D63B-EFB895742B9B}"/>
              </a:ext>
            </a:extLst>
          </p:cNvPr>
          <p:cNvSpPr txBox="1"/>
          <p:nvPr/>
        </p:nvSpPr>
        <p:spPr>
          <a:xfrm>
            <a:off x="575186" y="781665"/>
            <a:ext cx="10333703" cy="5599225"/>
          </a:xfrm>
          <a:prstGeom prst="rect">
            <a:avLst/>
          </a:prstGeom>
          <a:noFill/>
        </p:spPr>
        <p:txBody>
          <a:bodyPr wrap="square">
            <a:spAutoFit/>
          </a:bodyPr>
          <a:lstStyle/>
          <a:p>
            <a:pPr marL="285750" lvl="0" indent="-285750" algn="just">
              <a:lnSpc>
                <a:spcPct val="115000"/>
              </a:lnSpc>
              <a:buFont typeface="Wingdings" panose="05000000000000000000" pitchFamily="2" charset="2"/>
              <a:buChar char="v"/>
            </a:pPr>
            <a:r>
              <a:rPr lang="en-IN" sz="1300" b="1" kern="100" dirty="0">
                <a:effectLst/>
                <a:latin typeface="Times New Roman" panose="02020603050405020304" pitchFamily="18" charset="0"/>
                <a:ea typeface="Calibri" panose="020F0502020204030204" pitchFamily="34" charset="0"/>
                <a:cs typeface="Times New Roman" panose="02020603050405020304" pitchFamily="18" charset="0"/>
              </a:rPr>
              <a:t>Incorporate Ground Truth Evaluation: </a:t>
            </a:r>
            <a:r>
              <a:rPr lang="en-IN" sz="1300" kern="100" dirty="0">
                <a:effectLst/>
                <a:latin typeface="Times New Roman" panose="02020603050405020304" pitchFamily="18" charset="0"/>
                <a:ea typeface="Calibri" panose="020F0502020204030204" pitchFamily="34" charset="0"/>
                <a:cs typeface="Times New Roman" panose="02020603050405020304" pitchFamily="18" charset="0"/>
              </a:rPr>
              <a:t>In order to assess the quality of both the LLM responses and the retrieval system, </a:t>
            </a:r>
            <a:r>
              <a:rPr lang="en-IN" sz="13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ground truth data</a:t>
            </a:r>
            <a:r>
              <a:rPr lang="en-IN" sz="1300" kern="100" dirty="0">
                <a:effectLst/>
                <a:latin typeface="Times New Roman" panose="02020603050405020304" pitchFamily="18" charset="0"/>
                <a:ea typeface="Calibri" panose="020F0502020204030204" pitchFamily="34" charset="0"/>
                <a:cs typeface="Times New Roman" panose="02020603050405020304" pitchFamily="18" charset="0"/>
              </a:rPr>
              <a:t> should be added to the dataset. </a:t>
            </a:r>
          </a:p>
          <a:p>
            <a:pPr lvl="0" algn="just">
              <a:lnSpc>
                <a:spcPct val="115000"/>
              </a:lnSpc>
            </a:pPr>
            <a:endParaRPr lang="en-IN" sz="13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IN" sz="1300" b="1" kern="100" dirty="0">
                <a:effectLst/>
                <a:latin typeface="Times New Roman" panose="02020603050405020304" pitchFamily="18" charset="0"/>
                <a:ea typeface="Calibri" panose="020F0502020204030204" pitchFamily="34" charset="0"/>
                <a:cs typeface="Times New Roman" panose="02020603050405020304" pitchFamily="18" charset="0"/>
              </a:rPr>
              <a:t>Implement Chatbot with Memory:</a:t>
            </a:r>
            <a:r>
              <a:rPr lang="en-IN" sz="1300" kern="100" dirty="0">
                <a:effectLst/>
                <a:latin typeface="Times New Roman" panose="02020603050405020304" pitchFamily="18" charset="0"/>
                <a:ea typeface="Calibri" panose="020F0502020204030204" pitchFamily="34" charset="0"/>
                <a:cs typeface="Times New Roman" panose="02020603050405020304" pitchFamily="18" charset="0"/>
              </a:rPr>
              <a:t> Future iterations should </a:t>
            </a:r>
            <a:r>
              <a:rPr lang="en-IN" sz="1300" b="1" kern="100" dirty="0">
                <a:solidFill>
                  <a:srgbClr val="FFC000"/>
                </a:solidFill>
                <a:effectLst/>
                <a:latin typeface="Times New Roman" panose="02020603050405020304" pitchFamily="18" charset="0"/>
                <a:ea typeface="Calibri" panose="020F0502020204030204" pitchFamily="34" charset="0"/>
                <a:cs typeface="Times New Roman" panose="02020603050405020304" pitchFamily="18" charset="0"/>
              </a:rPr>
              <a:t>integrate a memory mechanism </a:t>
            </a:r>
            <a:r>
              <a:rPr lang="en-IN" sz="1300" kern="100" dirty="0">
                <a:effectLst/>
                <a:latin typeface="Times New Roman" panose="02020603050405020304" pitchFamily="18" charset="0"/>
                <a:ea typeface="Calibri" panose="020F0502020204030204" pitchFamily="34" charset="0"/>
                <a:cs typeface="Times New Roman" panose="02020603050405020304" pitchFamily="18" charset="0"/>
              </a:rPr>
              <a:t>or employ an AI agent capable of storing and referencing past interactions to improve contextual understanding and coherence.</a:t>
            </a:r>
          </a:p>
          <a:p>
            <a:pPr lvl="0" algn="just">
              <a:lnSpc>
                <a:spcPct val="115000"/>
              </a:lnSpc>
            </a:pPr>
            <a:endParaRPr lang="en-IN" sz="13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IN" sz="1300" b="1" kern="100" dirty="0">
                <a:effectLst/>
                <a:latin typeface="Times New Roman" panose="02020603050405020304" pitchFamily="18" charset="0"/>
                <a:ea typeface="Calibri" panose="020F0502020204030204" pitchFamily="34" charset="0"/>
                <a:cs typeface="Times New Roman" panose="02020603050405020304" pitchFamily="18" charset="0"/>
              </a:rPr>
              <a:t>Adopt Agentic RAG</a:t>
            </a:r>
            <a:r>
              <a:rPr lang="en-IN" sz="1300" kern="100" dirty="0">
                <a:effectLst/>
                <a:latin typeface="Times New Roman" panose="02020603050405020304" pitchFamily="18" charset="0"/>
                <a:ea typeface="Calibri" panose="020F0502020204030204" pitchFamily="34" charset="0"/>
                <a:cs typeface="Times New Roman" panose="02020603050405020304" pitchFamily="18" charset="0"/>
              </a:rPr>
              <a:t>: To optimize retrieval and generation, an </a:t>
            </a:r>
            <a:r>
              <a:rPr lang="en-IN" sz="1300" b="1" kern="100"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rPr>
              <a:t>Agentic RAG </a:t>
            </a:r>
            <a:r>
              <a:rPr lang="en-IN" sz="1300" kern="100" dirty="0">
                <a:effectLst/>
                <a:latin typeface="Times New Roman" panose="02020603050405020304" pitchFamily="18" charset="0"/>
                <a:ea typeface="Calibri" panose="020F0502020204030204" pitchFamily="34" charset="0"/>
                <a:cs typeface="Times New Roman" panose="02020603050405020304" pitchFamily="18" charset="0"/>
              </a:rPr>
              <a:t>framework can be implemented. This approach utilizes multiple AI agents to refine user queries, analyse retrieved documents, and dynamically invoke APIs or tools, thereby improving response accuracy and system efficiency.</a:t>
            </a:r>
          </a:p>
          <a:p>
            <a:pPr lvl="0" algn="just">
              <a:lnSpc>
                <a:spcPct val="115000"/>
              </a:lnSpc>
            </a:pPr>
            <a:endParaRPr lang="en-IN" sz="13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IN" sz="1300" b="1" kern="100" dirty="0">
                <a:effectLst/>
                <a:latin typeface="Times New Roman" panose="02020603050405020304" pitchFamily="18" charset="0"/>
                <a:ea typeface="Calibri" panose="020F0502020204030204" pitchFamily="34" charset="0"/>
                <a:cs typeface="Times New Roman" panose="02020603050405020304" pitchFamily="18" charset="0"/>
              </a:rPr>
              <a:t>Implement HyDE: </a:t>
            </a:r>
            <a:r>
              <a:rPr lang="en-IN" sz="1300" kern="100" dirty="0">
                <a:effectLst/>
                <a:latin typeface="Times New Roman" panose="02020603050405020304" pitchFamily="18" charset="0"/>
                <a:ea typeface="Calibri" panose="020F0502020204030204" pitchFamily="34" charset="0"/>
                <a:cs typeface="Times New Roman" panose="02020603050405020304" pitchFamily="18" charset="0"/>
              </a:rPr>
              <a:t>The Hypothetical Document Embedding </a:t>
            </a:r>
            <a:r>
              <a:rPr lang="en-IN" sz="13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(HyDE) </a:t>
            </a:r>
            <a:r>
              <a:rPr lang="en-IN" sz="1300" kern="100" dirty="0">
                <a:effectLst/>
                <a:latin typeface="Times New Roman" panose="02020603050405020304" pitchFamily="18" charset="0"/>
                <a:ea typeface="Calibri" panose="020F0502020204030204" pitchFamily="34" charset="0"/>
                <a:cs typeface="Times New Roman" panose="02020603050405020304" pitchFamily="18" charset="0"/>
              </a:rPr>
              <a:t>technique can enhance retrieval performance by generating a hypothetical answer to a query, embedding it, and using it for semantic similarity searches in the vector database. By combining the original query, hypothetical answer, and retrieved documents, the LLM can produce more accurate responses with reduced hallucination.</a:t>
            </a:r>
          </a:p>
          <a:p>
            <a:pPr lvl="0" algn="just">
              <a:lnSpc>
                <a:spcPct val="115000"/>
              </a:lnSpc>
            </a:pPr>
            <a:endParaRPr lang="en-IN" sz="13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IN" sz="1300" b="1" kern="100" dirty="0">
                <a:effectLst/>
                <a:latin typeface="Times New Roman" panose="02020603050405020304" pitchFamily="18" charset="0"/>
                <a:ea typeface="Calibri" panose="020F0502020204030204" pitchFamily="34" charset="0"/>
                <a:cs typeface="Times New Roman" panose="02020603050405020304" pitchFamily="18" charset="0"/>
              </a:rPr>
              <a:t>Optmize</a:t>
            </a:r>
            <a:r>
              <a:rPr lang="en-IN" sz="13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300" b="1" kern="100" dirty="0">
                <a:effectLst/>
                <a:latin typeface="Times New Roman" panose="02020603050405020304" pitchFamily="18" charset="0"/>
                <a:ea typeface="Calibri" panose="020F0502020204030204" pitchFamily="34" charset="0"/>
                <a:cs typeface="Times New Roman" panose="02020603050405020304" pitchFamily="18" charset="0"/>
              </a:rPr>
              <a:t>Diversity-Based Chunking Algorithm: </a:t>
            </a:r>
            <a:r>
              <a:rPr lang="en-IN" sz="1300" kern="100" dirty="0">
                <a:effectLst/>
                <a:latin typeface="Times New Roman" panose="02020603050405020304" pitchFamily="18" charset="0"/>
                <a:ea typeface="Calibri" panose="020F0502020204030204" pitchFamily="34" charset="0"/>
                <a:cs typeface="Times New Roman" panose="02020603050405020304" pitchFamily="18" charset="0"/>
              </a:rPr>
              <a:t>A </a:t>
            </a:r>
            <a:r>
              <a:rPr lang="en-IN" sz="1300" b="1" kern="1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dynamic chunking </a:t>
            </a:r>
            <a:r>
              <a:rPr lang="en-IN" sz="1300" kern="100" dirty="0">
                <a:effectLst/>
                <a:latin typeface="Times New Roman" panose="02020603050405020304" pitchFamily="18" charset="0"/>
                <a:ea typeface="Calibri" panose="020F0502020204030204" pitchFamily="34" charset="0"/>
                <a:cs typeface="Times New Roman" panose="02020603050405020304" pitchFamily="18" charset="0"/>
              </a:rPr>
              <a:t>approach should be explored, where varying chunk sizes </a:t>
            </a:r>
            <a:r>
              <a:rPr lang="en-IN" sz="1300" i="1" kern="100" dirty="0">
                <a:effectLst/>
                <a:latin typeface="Times New Roman" panose="02020603050405020304" pitchFamily="18" charset="0"/>
                <a:ea typeface="Calibri" panose="020F0502020204030204" pitchFamily="34" charset="0"/>
                <a:cs typeface="Times New Roman" panose="02020603050405020304" pitchFamily="18" charset="0"/>
              </a:rPr>
              <a:t>{50, 100, 150, 200...} </a:t>
            </a:r>
            <a:r>
              <a:rPr lang="en-IN" sz="1300" kern="100" dirty="0">
                <a:effectLst/>
                <a:latin typeface="Times New Roman" panose="02020603050405020304" pitchFamily="18" charset="0"/>
                <a:ea typeface="Calibri" panose="020F0502020204030204" pitchFamily="34" charset="0"/>
                <a:cs typeface="Times New Roman" panose="02020603050405020304" pitchFamily="18" charset="0"/>
              </a:rPr>
              <a:t>tokens are tested to identify the most optimal chunk size and overlap chunk for retrieval accuracy and computational efficiency.</a:t>
            </a:r>
          </a:p>
          <a:p>
            <a:pPr lvl="0" algn="just">
              <a:lnSpc>
                <a:spcPct val="115000"/>
              </a:lnSpc>
            </a:pPr>
            <a:endParaRPr lang="en-IN" sz="13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IN" sz="1300" b="1" kern="100" dirty="0">
                <a:effectLst/>
                <a:latin typeface="Times New Roman" panose="02020603050405020304" pitchFamily="18" charset="0"/>
                <a:ea typeface="Calibri" panose="020F0502020204030204" pitchFamily="34" charset="0"/>
                <a:cs typeface="Times New Roman" panose="02020603050405020304" pitchFamily="18" charset="0"/>
              </a:rPr>
              <a:t>Apply Fine Tuning Technique: </a:t>
            </a:r>
            <a:r>
              <a:rPr lang="en-IN" sz="1300" kern="100" dirty="0">
                <a:effectLst/>
                <a:latin typeface="Times New Roman" panose="02020603050405020304" pitchFamily="18" charset="0"/>
                <a:ea typeface="Calibri" panose="020F0502020204030204" pitchFamily="34" charset="0"/>
                <a:cs typeface="Times New Roman" panose="02020603050405020304" pitchFamily="18" charset="0"/>
              </a:rPr>
              <a:t>To further enhance chatbot performance, fine-tuning  methods such as </a:t>
            </a:r>
            <a:r>
              <a:rPr lang="en-IN" sz="13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LoRA (Low-Rank Adaptation) or QLoRA (Quantized LoRA) </a:t>
            </a:r>
            <a:r>
              <a:rPr lang="en-IN" sz="1300" kern="100" dirty="0">
                <a:effectLst/>
                <a:latin typeface="Times New Roman" panose="02020603050405020304" pitchFamily="18" charset="0"/>
                <a:ea typeface="Calibri" panose="020F0502020204030204" pitchFamily="34" charset="0"/>
                <a:cs typeface="Times New Roman" panose="02020603050405020304" pitchFamily="18" charset="0"/>
              </a:rPr>
              <a:t>can be employed . </a:t>
            </a:r>
          </a:p>
          <a:p>
            <a:pPr lvl="0" algn="just">
              <a:lnSpc>
                <a:spcPct val="115000"/>
              </a:lnSpc>
            </a:pPr>
            <a:endParaRPr lang="en-IN" sz="1300" kern="100" dirty="0">
              <a:effectLst/>
              <a:latin typeface="Calibri" panose="020F0502020204030204" pitchFamily="34" charset="0"/>
              <a:ea typeface="Calibri" panose="020F050202020403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IN" sz="1300" b="1" kern="100" dirty="0">
                <a:effectLst/>
                <a:latin typeface="Times New Roman" panose="02020603050405020304" pitchFamily="18" charset="0"/>
                <a:ea typeface="Calibri" panose="020F0502020204030204" pitchFamily="34" charset="0"/>
                <a:cs typeface="Times New Roman" panose="02020603050405020304" pitchFamily="18" charset="0"/>
              </a:rPr>
              <a:t>Better Prompting Technique:</a:t>
            </a:r>
            <a:r>
              <a:rPr lang="en-IN" sz="1300" kern="100" dirty="0">
                <a:effectLst/>
                <a:latin typeface="Times New Roman" panose="02020603050405020304" pitchFamily="18" charset="0"/>
                <a:ea typeface="Calibri" panose="020F0502020204030204" pitchFamily="34" charset="0"/>
                <a:cs typeface="Times New Roman" panose="02020603050405020304" pitchFamily="18" charset="0"/>
              </a:rPr>
              <a:t> To improve the chatbot's performance, more effective prompting strategies such as </a:t>
            </a:r>
            <a:r>
              <a:rPr lang="en-IN" sz="1300" b="1" kern="1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few-shot prompting can be utilized. </a:t>
            </a:r>
          </a:p>
          <a:p>
            <a:pPr marL="285750" lvl="0" indent="-285750" algn="just">
              <a:lnSpc>
                <a:spcPct val="115000"/>
              </a:lnSpc>
              <a:buFont typeface="Wingdings" panose="05000000000000000000" pitchFamily="2" charset="2"/>
              <a:buChar char="v"/>
            </a:pPr>
            <a:endParaRPr lang="en-IN" sz="1300" b="1" kern="100" dirty="0">
              <a:latin typeface="Times New Roman" panose="02020603050405020304" pitchFamily="18" charset="0"/>
              <a:ea typeface="Calibri" panose="020F050202020403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IN" sz="1300" b="1" kern="100" dirty="0">
                <a:effectLst/>
                <a:latin typeface="Times New Roman" panose="02020603050405020304" pitchFamily="18" charset="0"/>
                <a:ea typeface="Calibri" panose="020F0502020204030204" pitchFamily="34" charset="0"/>
                <a:cs typeface="Times New Roman" panose="02020603050405020304" pitchFamily="18" charset="0"/>
              </a:rPr>
              <a:t>Use LLM as Judge:</a:t>
            </a:r>
            <a:r>
              <a:rPr lang="en-IN" sz="1300" kern="100" dirty="0">
                <a:effectLst/>
                <a:latin typeface="Times New Roman" panose="02020603050405020304" pitchFamily="18" charset="0"/>
                <a:ea typeface="Calibri" panose="020F0502020204030204" pitchFamily="34" charset="0"/>
                <a:cs typeface="Times New Roman" panose="02020603050405020304" pitchFamily="18" charset="0"/>
              </a:rPr>
              <a:t> To assess the performance of the chatbot, an additional LLM can be employed to evaluate its responses.  </a:t>
            </a:r>
            <a:endParaRPr lang="en-IN" sz="13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25626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6C481-2904-88D2-5B42-2C6BCFBDE44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6F189BA-9020-BBB2-BB99-5854E85C6943}"/>
              </a:ext>
            </a:extLst>
          </p:cNvPr>
          <p:cNvSpPr>
            <a:spLocks noGrp="1"/>
          </p:cNvSpPr>
          <p:nvPr>
            <p:ph type="title"/>
          </p:nvPr>
        </p:nvSpPr>
        <p:spPr>
          <a:xfrm>
            <a:off x="322006" y="194187"/>
            <a:ext cx="6698226" cy="685800"/>
          </a:xfrm>
        </p:spPr>
        <p:txBody>
          <a:bodyPr>
            <a:noAutofit/>
          </a:bodyPr>
          <a:lstStyle/>
          <a:p>
            <a:r>
              <a:rPr lang="en-US" sz="2400" b="1" dirty="0">
                <a:solidFill>
                  <a:srgbClr val="180EE2"/>
                </a:solidFill>
                <a:latin typeface="Times New Roman" panose="02020603050405020304" pitchFamily="18" charset="0"/>
                <a:cs typeface="Times New Roman" panose="02020603050405020304" pitchFamily="18" charset="0"/>
              </a:rPr>
              <a:t>12.  Conclusion</a:t>
            </a:r>
            <a:endParaRPr lang="en-US" sz="2400" b="1" dirty="0">
              <a:solidFill>
                <a:srgbClr val="0000FF"/>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65C5A5F-4BC5-E0B3-C4C8-09385DB9864F}"/>
              </a:ext>
            </a:extLst>
          </p:cNvPr>
          <p:cNvSpPr txBox="1"/>
          <p:nvPr/>
        </p:nvSpPr>
        <p:spPr>
          <a:xfrm>
            <a:off x="186812" y="1014067"/>
            <a:ext cx="10943303" cy="1448923"/>
          </a:xfrm>
          <a:prstGeom prst="rect">
            <a:avLst/>
          </a:prstGeom>
          <a:noFill/>
        </p:spPr>
        <p:txBody>
          <a:bodyPr wrap="square">
            <a:spAutoFit/>
          </a:bodyPr>
          <a:lstStyle/>
          <a:p>
            <a:pPr marL="514350" indent="-285750" algn="just">
              <a:lnSpc>
                <a:spcPct val="115000"/>
              </a:lnSpc>
              <a:spcAft>
                <a:spcPts val="800"/>
              </a:spcAft>
              <a:buFont typeface="Wingdings" panose="05000000000000000000" pitchFamily="2" charset="2"/>
              <a:buChar char="v"/>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The </a:t>
            </a:r>
            <a:r>
              <a:rPr lang="en-IN" sz="18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RAG pipeline </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developed for the Q&amp;A chatbot effectively answers queries related to the provided dataset, including proper source citations. </a:t>
            </a:r>
          </a:p>
          <a:p>
            <a:pPr marL="514350" indent="-285750" algn="just">
              <a:lnSpc>
                <a:spcPct val="115000"/>
              </a:lnSpc>
              <a:spcAft>
                <a:spcPts val="800"/>
              </a:spcAft>
              <a:buFont typeface="Wingdings" panose="05000000000000000000" pitchFamily="2" charset="2"/>
              <a:buChar char="v"/>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However, it correctly refrains from responding to questions outside the dataset's scope. This demonstrates that the </a:t>
            </a:r>
            <a:r>
              <a:rPr lang="en-IN" sz="1800" b="1" kern="100"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rPr>
              <a:t>chatbot is robust</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with minimal hallucination.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77797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randombar(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330BE-4897-12C3-AC83-A88C2B0D81A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895C67D-D0BC-3F58-8F8B-559CCD92876D}"/>
              </a:ext>
            </a:extLst>
          </p:cNvPr>
          <p:cNvSpPr>
            <a:spLocks noGrp="1"/>
          </p:cNvSpPr>
          <p:nvPr>
            <p:ph type="title"/>
          </p:nvPr>
        </p:nvSpPr>
        <p:spPr>
          <a:xfrm>
            <a:off x="2494936" y="2150806"/>
            <a:ext cx="6698226" cy="685800"/>
          </a:xfrm>
        </p:spPr>
        <p:txBody>
          <a:bodyPr>
            <a:noAutofit/>
          </a:bodyPr>
          <a:lstStyle/>
          <a:p>
            <a:pPr algn="ctr"/>
            <a:r>
              <a:rPr lang="en-US" sz="4800" b="1" dirty="0">
                <a:solidFill>
                  <a:srgbClr val="180EE2"/>
                </a:solidFill>
                <a:latin typeface="Times New Roman" panose="02020603050405020304" pitchFamily="18" charset="0"/>
                <a:cs typeface="Times New Roman" panose="02020603050405020304" pitchFamily="18" charset="0"/>
              </a:rPr>
              <a:t>Thank You </a:t>
            </a:r>
            <a:endParaRPr lang="en-US" sz="4800" b="1" dirty="0">
              <a:solidFill>
                <a:srgbClr val="0000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1334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202</TotalTime>
  <Words>1944</Words>
  <Application>Microsoft Office PowerPoint</Application>
  <PresentationFormat>Widescreen</PresentationFormat>
  <Paragraphs>264</Paragraphs>
  <Slides>23</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Calibri Light</vt:lpstr>
      <vt:lpstr>Cambria Math</vt:lpstr>
      <vt:lpstr>Times New Roman</vt:lpstr>
      <vt:lpstr>Wingdings</vt:lpstr>
      <vt:lpstr>Office Theme</vt:lpstr>
      <vt:lpstr>PowerPoint Presentation</vt:lpstr>
      <vt:lpstr>PowerPoint Presentation</vt:lpstr>
      <vt:lpstr>1. Workflow</vt:lpstr>
      <vt:lpstr>PowerPoint Presentation</vt:lpstr>
      <vt:lpstr>2. Diversity-Based Chunking Algorithm Analysis</vt:lpstr>
      <vt:lpstr>3. Document Chunking</vt:lpstr>
      <vt:lpstr>5. Retrieval System</vt:lpstr>
      <vt:lpstr>6. LLM Model and Prompt Technique</vt:lpstr>
      <vt:lpstr>7. Model Evaluation</vt:lpstr>
      <vt:lpstr>9. Result and Discussion </vt:lpstr>
      <vt:lpstr>Output of Set-A Questions</vt:lpstr>
      <vt:lpstr>Output of Set-A Questions</vt:lpstr>
      <vt:lpstr>Output of Set-A Questions</vt:lpstr>
      <vt:lpstr> Output of Set-A Questions</vt:lpstr>
      <vt:lpstr> Output of Set-A Questions</vt:lpstr>
      <vt:lpstr> Output of Set-B Questions</vt:lpstr>
      <vt:lpstr>Output of Set-B Questions</vt:lpstr>
      <vt:lpstr>Output of Set-B Questions</vt:lpstr>
      <vt:lpstr>Output of Set-B Questions</vt:lpstr>
      <vt:lpstr>10.  Challenges in the Current Chatbot</vt:lpstr>
      <vt:lpstr>11.  Future Work</vt:lpstr>
      <vt:lpstr>12.  Conclusion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Niraj Bagh</dc:creator>
  <cp:lastModifiedBy>Niraj Bagh</cp:lastModifiedBy>
  <cp:revision>11</cp:revision>
  <dcterms:created xsi:type="dcterms:W3CDTF">2025-08-05T14:04:44Z</dcterms:created>
  <dcterms:modified xsi:type="dcterms:W3CDTF">2025-08-07T06:20:21Z</dcterms:modified>
</cp:coreProperties>
</file>